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96" r:id="rId3"/>
    <p:sldId id="258" r:id="rId4"/>
    <p:sldId id="306" r:id="rId5"/>
    <p:sldId id="307" r:id="rId6"/>
    <p:sldId id="298" r:id="rId7"/>
    <p:sldId id="309" r:id="rId8"/>
    <p:sldId id="310" r:id="rId9"/>
    <p:sldId id="311" r:id="rId10"/>
    <p:sldId id="319" r:id="rId11"/>
    <p:sldId id="300" r:id="rId12"/>
    <p:sldId id="301" r:id="rId13"/>
    <p:sldId id="308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20" r:id="rId22"/>
    <p:sldId id="321" r:id="rId23"/>
    <p:sldId id="322" r:id="rId24"/>
    <p:sldId id="302" r:id="rId25"/>
    <p:sldId id="303" r:id="rId26"/>
    <p:sldId id="323" r:id="rId27"/>
    <p:sldId id="328" r:id="rId28"/>
    <p:sldId id="325" r:id="rId29"/>
    <p:sldId id="329" r:id="rId30"/>
    <p:sldId id="330" r:id="rId31"/>
    <p:sldId id="326" r:id="rId32"/>
    <p:sldId id="331" r:id="rId33"/>
    <p:sldId id="327" r:id="rId34"/>
    <p:sldId id="332" r:id="rId35"/>
    <p:sldId id="324" r:id="rId36"/>
    <p:sldId id="304" r:id="rId37"/>
    <p:sldId id="333" r:id="rId38"/>
    <p:sldId id="305" r:id="rId39"/>
    <p:sldId id="289" r:id="rId40"/>
  </p:sldIdLst>
  <p:sldSz cx="96996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55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5" roundtripDataSignature="AMtx7micaGTKp/iFauDK3KqKs36/OhOJ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0900BC"/>
    <a:srgbClr val="398735"/>
    <a:srgbClr val="BC0000"/>
    <a:srgbClr val="FFB9B9"/>
    <a:srgbClr val="DAE9F6"/>
    <a:srgbClr val="FFD9D9"/>
    <a:srgbClr val="A5A5A5"/>
    <a:srgbClr val="0B0B0B"/>
    <a:srgbClr val="FF8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6D0FA5-421F-49FE-BF63-756B2F4A36DE}">
  <a:tblStyle styleId="{726D0FA5-421F-49FE-BF63-756B2F4A36D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7524" autoAdjust="0"/>
  </p:normalViewPr>
  <p:slideViewPr>
    <p:cSldViewPr snapToGrid="0">
      <p:cViewPr varScale="1">
        <p:scale>
          <a:sx n="96" d="100"/>
          <a:sy n="96" d="100"/>
        </p:scale>
        <p:origin x="2480" y="168"/>
      </p:cViewPr>
      <p:guideLst>
        <p:guide orient="horz" pos="2160"/>
        <p:guide pos="30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9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0985E8F5-9D7D-DDF9-B992-358A264C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231AFDF3-8420-07AE-7150-9757F9B0C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4C905961-1B9A-1BD4-5733-335C0622E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995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575972A9-2B49-AA40-B35E-37FB442E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6F9E7ABF-0886-B15C-8661-B66C7FA0A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F715ECAB-3AEF-4B4C-5E86-0FFF15621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5375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0279D823-40B5-35CE-6CE5-18C513A0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2C501FA0-4D3B-09BE-FBCD-A81BCE27D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2210FA82-49D9-8513-C806-2BE5E66D2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134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6B02A9A-8489-F2AC-FA29-5637836F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C0F8007E-5341-F65F-A47A-9D46A9253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219629BE-8FD1-2134-3841-192F2F18F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4505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054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663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0141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B134538-6FED-B8B2-F3FA-82E50446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1BB03F22-428D-A996-21A9-6A044D677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D77395D0-DC7D-2046-353F-3FDAC1857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6994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3A6AFFD-819D-5DF6-C469-C7AB0B4F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75388011-B542-7D9C-6069-7F8E52D63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P30, Ps30, T30, </a:t>
            </a:r>
            <a:r>
              <a:rPr lang="en-US" sz="12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NRc</a:t>
            </a:r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</a:t>
            </a:r>
          </a:p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</a:t>
            </a:r>
            <a:endParaRPr dirty="0"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1F977418-3370-6E31-3B99-79216324E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7621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D84978C6-3AE8-4168-4CC3-1744A6E7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82E1E0DC-D735-AD9E-6D18-A23A51AF6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P30, Ps30, T30, </a:t>
            </a:r>
            <a:r>
              <a:rPr lang="en-US" sz="12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NRc</a:t>
            </a:r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</a:t>
            </a:r>
          </a:p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</a:t>
            </a:r>
            <a:endParaRPr dirty="0"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37868181-BA8D-F734-9989-A8FBC7003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4675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8CC776A3-1B29-0922-B9CD-F9FD082A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D338ED42-FBF9-7337-B3F7-7F6B18E4E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P30, Ps30, T30, </a:t>
            </a:r>
            <a:r>
              <a:rPr lang="en-US" sz="12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NRc</a:t>
            </a:r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</a:t>
            </a:r>
          </a:p>
          <a:p>
            <a:r>
              <a:rPr lang="en-US" sz="1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</a:t>
            </a:r>
            <a:endParaRPr dirty="0"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1F9BFF7E-60DE-FF89-184F-B72934C8B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8062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5A791BF-B3D0-66D3-BB3E-47E7E97B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06E4909C-7976-B518-EB8A-38F36B26E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3E41464F-726E-A74E-2DA6-18982E789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974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BCED686-A6F0-21D2-C157-E70AB76F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898EBD66-D388-7A07-4983-329EDCA0B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E088F705-4C6E-FF10-E596-937FF4A97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9322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69812CA-68BA-363C-8478-F78DBDCD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>
            <a:extLst>
              <a:ext uri="{FF2B5EF4-FFF2-40B4-BE49-F238E27FC236}">
                <a16:creationId xmlns:a16="http://schemas.microsoft.com/office/drawing/2014/main" id="{796B2601-2396-411D-A29E-2FF7128ED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1" name="Google Shape;241;p3:notes">
            <a:extLst>
              <a:ext uri="{FF2B5EF4-FFF2-40B4-BE49-F238E27FC236}">
                <a16:creationId xmlns:a16="http://schemas.microsoft.com/office/drawing/2014/main" id="{B3D84A64-0DE0-3251-898F-C63A7F33B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678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/>
          <p:nvPr/>
        </p:nvSpPr>
        <p:spPr>
          <a:xfrm>
            <a:off x="329592" y="-685800"/>
            <a:ext cx="3263900" cy="6718300"/>
          </a:xfrm>
          <a:prstGeom prst="roundRect">
            <a:avLst>
              <a:gd name="adj" fmla="val 16667"/>
            </a:avLst>
          </a:prstGeom>
          <a:solidFill>
            <a:srgbClr val="142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34"/>
          <p:cNvCxnSpPr/>
          <p:nvPr/>
        </p:nvCxnSpPr>
        <p:spPr>
          <a:xfrm>
            <a:off x="334950" y="6266581"/>
            <a:ext cx="904367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Google Shape;1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3261" y="4005206"/>
            <a:ext cx="2236562" cy="85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4"/>
          <p:cNvSpPr txBox="1">
            <a:spLocks noGrp="1"/>
          </p:cNvSpPr>
          <p:nvPr>
            <p:ph type="body" idx="1"/>
          </p:nvPr>
        </p:nvSpPr>
        <p:spPr>
          <a:xfrm>
            <a:off x="3885029" y="508658"/>
            <a:ext cx="5493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  <a:defRPr sz="1800" b="1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body" idx="2"/>
          </p:nvPr>
        </p:nvSpPr>
        <p:spPr>
          <a:xfrm>
            <a:off x="3906629" y="1980529"/>
            <a:ext cx="5472000" cy="16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body" idx="3"/>
          </p:nvPr>
        </p:nvSpPr>
        <p:spPr>
          <a:xfrm>
            <a:off x="3906629" y="4049720"/>
            <a:ext cx="54720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  <a:defRPr sz="1800" b="1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body" idx="4"/>
          </p:nvPr>
        </p:nvSpPr>
        <p:spPr>
          <a:xfrm>
            <a:off x="3906629" y="5649913"/>
            <a:ext cx="54720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 b="1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A0729BB5-1460-FF58-2414-B7C1C869D0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70516" y="5119257"/>
            <a:ext cx="2792798" cy="46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>
            <a:spLocks noGrp="1"/>
          </p:cNvSpPr>
          <p:nvPr>
            <p:ph type="body" idx="1"/>
          </p:nvPr>
        </p:nvSpPr>
        <p:spPr>
          <a:xfrm>
            <a:off x="334949" y="792000"/>
            <a:ext cx="9043200" cy="522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624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3278"/>
              </a:buClr>
              <a:buSzPts val="2640"/>
              <a:buFont typeface="Noto Sans Symbols"/>
              <a:buChar char="▪"/>
              <a:defRPr sz="22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93278"/>
              </a:buClr>
              <a:buSzPts val="1000"/>
              <a:buFont typeface="Noto Sans Symbols"/>
              <a:buChar char="❑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93278"/>
              </a:buClr>
              <a:buSzPts val="2000"/>
              <a:buFont typeface="Calibri"/>
              <a:buChar char="–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1701" y="6317788"/>
            <a:ext cx="1126302" cy="4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35"/>
          <p:cNvCxnSpPr/>
          <p:nvPr/>
        </p:nvCxnSpPr>
        <p:spPr>
          <a:xfrm>
            <a:off x="334950" y="6266581"/>
            <a:ext cx="904367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35"/>
          <p:cNvSpPr/>
          <p:nvPr/>
        </p:nvSpPr>
        <p:spPr>
          <a:xfrm>
            <a:off x="-375724" y="72000"/>
            <a:ext cx="9975942" cy="576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2"/>
          </p:nvPr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None/>
              <a:defRPr sz="2400" b="1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3"/>
          </p:nvPr>
        </p:nvSpPr>
        <p:spPr>
          <a:xfrm>
            <a:off x="334949" y="5950424"/>
            <a:ext cx="45986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F55C4088-B8FA-9A36-C444-29CF177D40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7984" y="6409709"/>
            <a:ext cx="2152537" cy="354832"/>
          </a:xfrm>
          <a:prstGeom prst="rect">
            <a:avLst/>
          </a:prstGeom>
        </p:spPr>
      </p:pic>
      <p:pic>
        <p:nvPicPr>
          <p:cNvPr id="6" name="Google Shape;25;p35">
            <a:extLst>
              <a:ext uri="{FF2B5EF4-FFF2-40B4-BE49-F238E27FC236}">
                <a16:creationId xmlns:a16="http://schemas.microsoft.com/office/drawing/2014/main" id="{9BF59F1F-FCE5-6487-E6B7-730B7DF8CB2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34949" y="6332541"/>
            <a:ext cx="1126302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inal">
  <p:cSld name="Final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1"/>
          <p:cNvSpPr/>
          <p:nvPr/>
        </p:nvSpPr>
        <p:spPr>
          <a:xfrm>
            <a:off x="329592" y="-685800"/>
            <a:ext cx="3263900" cy="6718300"/>
          </a:xfrm>
          <a:prstGeom prst="roundRect">
            <a:avLst>
              <a:gd name="adj" fmla="val 16667"/>
            </a:avLst>
          </a:prstGeom>
          <a:solidFill>
            <a:srgbClr val="142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1"/>
          <p:cNvCxnSpPr/>
          <p:nvPr/>
        </p:nvCxnSpPr>
        <p:spPr>
          <a:xfrm>
            <a:off x="334950" y="6266581"/>
            <a:ext cx="904367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51"/>
          <p:cNvSpPr txBox="1">
            <a:spLocks noGrp="1"/>
          </p:cNvSpPr>
          <p:nvPr>
            <p:ph type="body" idx="1"/>
          </p:nvPr>
        </p:nvSpPr>
        <p:spPr>
          <a:xfrm>
            <a:off x="3854220" y="1753883"/>
            <a:ext cx="5471999" cy="77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3278"/>
              </a:buClr>
              <a:buSzPts val="3600"/>
              <a:buFont typeface="Arial"/>
              <a:buNone/>
              <a:defRPr sz="3600" b="1" i="0" u="none">
                <a:solidFill>
                  <a:srgbClr val="19327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51"/>
          <p:cNvSpPr txBox="1">
            <a:spLocks noGrp="1"/>
          </p:cNvSpPr>
          <p:nvPr>
            <p:ph type="body" idx="2"/>
          </p:nvPr>
        </p:nvSpPr>
        <p:spPr>
          <a:xfrm>
            <a:off x="3959244" y="4060198"/>
            <a:ext cx="5471999" cy="19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Arial"/>
              <a:buNone/>
              <a:defRPr sz="1800" b="1" i="0" u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oogle Shape;16;p34">
            <a:extLst>
              <a:ext uri="{FF2B5EF4-FFF2-40B4-BE49-F238E27FC236}">
                <a16:creationId xmlns:a16="http://schemas.microsoft.com/office/drawing/2014/main" id="{0334CCD2-1F03-85FE-CD78-6CAE23AF7A2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43261" y="4005206"/>
            <a:ext cx="2236562" cy="8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7971C0BE-A60E-3DF9-01F6-F78E1884A9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70516" y="5119257"/>
            <a:ext cx="2792798" cy="46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3"/>
          <p:cNvSpPr txBox="1">
            <a:spLocks noGrp="1"/>
          </p:cNvSpPr>
          <p:nvPr>
            <p:ph type="title"/>
          </p:nvPr>
        </p:nvSpPr>
        <p:spPr>
          <a:xfrm>
            <a:off x="661798" y="1709740"/>
            <a:ext cx="836592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3"/>
          <p:cNvSpPr txBox="1">
            <a:spLocks noGrp="1"/>
          </p:cNvSpPr>
          <p:nvPr>
            <p:ph type="body" idx="1"/>
          </p:nvPr>
        </p:nvSpPr>
        <p:spPr>
          <a:xfrm>
            <a:off x="661798" y="4589465"/>
            <a:ext cx="836592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53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" name="Google Shape;172;p53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53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4"/>
          <p:cNvSpPr txBox="1">
            <a:spLocks noGrp="1"/>
          </p:cNvSpPr>
          <p:nvPr>
            <p:ph type="title"/>
          </p:nvPr>
        </p:nvSpPr>
        <p:spPr>
          <a:xfrm>
            <a:off x="666849" y="365127"/>
            <a:ext cx="83659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4"/>
          <p:cNvSpPr txBox="1">
            <a:spLocks noGrp="1"/>
          </p:cNvSpPr>
          <p:nvPr>
            <p:ph type="body" idx="1"/>
          </p:nvPr>
        </p:nvSpPr>
        <p:spPr>
          <a:xfrm>
            <a:off x="666849" y="1825625"/>
            <a:ext cx="412234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54"/>
          <p:cNvSpPr txBox="1">
            <a:spLocks noGrp="1"/>
          </p:cNvSpPr>
          <p:nvPr>
            <p:ph type="body" idx="2"/>
          </p:nvPr>
        </p:nvSpPr>
        <p:spPr>
          <a:xfrm>
            <a:off x="4910435" y="1825625"/>
            <a:ext cx="412234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54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9" name="Google Shape;179;p54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54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5"/>
          <p:cNvSpPr txBox="1">
            <a:spLocks noGrp="1"/>
          </p:cNvSpPr>
          <p:nvPr>
            <p:ph type="title"/>
          </p:nvPr>
        </p:nvSpPr>
        <p:spPr>
          <a:xfrm>
            <a:off x="668112" y="365127"/>
            <a:ext cx="83659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5"/>
          <p:cNvSpPr txBox="1">
            <a:spLocks noGrp="1"/>
          </p:cNvSpPr>
          <p:nvPr>
            <p:ph type="body" idx="1"/>
          </p:nvPr>
        </p:nvSpPr>
        <p:spPr>
          <a:xfrm>
            <a:off x="668114" y="1681163"/>
            <a:ext cx="410339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55"/>
          <p:cNvSpPr txBox="1">
            <a:spLocks noGrp="1"/>
          </p:cNvSpPr>
          <p:nvPr>
            <p:ph type="body" idx="2"/>
          </p:nvPr>
        </p:nvSpPr>
        <p:spPr>
          <a:xfrm>
            <a:off x="668114" y="2505075"/>
            <a:ext cx="4103395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55"/>
          <p:cNvSpPr txBox="1">
            <a:spLocks noGrp="1"/>
          </p:cNvSpPr>
          <p:nvPr>
            <p:ph type="body" idx="3"/>
          </p:nvPr>
        </p:nvSpPr>
        <p:spPr>
          <a:xfrm>
            <a:off x="4910436" y="1681163"/>
            <a:ext cx="412360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55"/>
          <p:cNvSpPr txBox="1">
            <a:spLocks noGrp="1"/>
          </p:cNvSpPr>
          <p:nvPr>
            <p:ph type="body" idx="4"/>
          </p:nvPr>
        </p:nvSpPr>
        <p:spPr>
          <a:xfrm>
            <a:off x="4910436" y="2505075"/>
            <a:ext cx="4123604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55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8" name="Google Shape;188;p55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9" name="Google Shape;189;p55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6"/>
          <p:cNvSpPr txBox="1">
            <a:spLocks noGrp="1"/>
          </p:cNvSpPr>
          <p:nvPr>
            <p:ph type="title"/>
          </p:nvPr>
        </p:nvSpPr>
        <p:spPr>
          <a:xfrm>
            <a:off x="666849" y="365127"/>
            <a:ext cx="83659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56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56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56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7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" name="Google Shape;197;p57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8" name="Google Shape;198;p57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8"/>
          <p:cNvSpPr txBox="1">
            <a:spLocks noGrp="1"/>
          </p:cNvSpPr>
          <p:nvPr>
            <p:ph type="title"/>
          </p:nvPr>
        </p:nvSpPr>
        <p:spPr>
          <a:xfrm>
            <a:off x="668112" y="457200"/>
            <a:ext cx="312838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8"/>
          <p:cNvSpPr txBox="1">
            <a:spLocks noGrp="1"/>
          </p:cNvSpPr>
          <p:nvPr>
            <p:ph type="body" idx="1"/>
          </p:nvPr>
        </p:nvSpPr>
        <p:spPr>
          <a:xfrm>
            <a:off x="4123604" y="987427"/>
            <a:ext cx="4910435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2" name="Google Shape;202;p58"/>
          <p:cNvSpPr txBox="1">
            <a:spLocks noGrp="1"/>
          </p:cNvSpPr>
          <p:nvPr>
            <p:ph type="body" idx="2"/>
          </p:nvPr>
        </p:nvSpPr>
        <p:spPr>
          <a:xfrm>
            <a:off x="668112" y="2057400"/>
            <a:ext cx="3128382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58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p58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" name="Google Shape;205;p58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9"/>
          <p:cNvSpPr txBox="1">
            <a:spLocks noGrp="1"/>
          </p:cNvSpPr>
          <p:nvPr>
            <p:ph type="title"/>
          </p:nvPr>
        </p:nvSpPr>
        <p:spPr>
          <a:xfrm>
            <a:off x="668112" y="457200"/>
            <a:ext cx="312838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9"/>
          <p:cNvSpPr>
            <a:spLocks noGrp="1"/>
          </p:cNvSpPr>
          <p:nvPr>
            <p:ph type="pic" idx="2"/>
          </p:nvPr>
        </p:nvSpPr>
        <p:spPr>
          <a:xfrm>
            <a:off x="4123604" y="987427"/>
            <a:ext cx="4910435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59"/>
          <p:cNvSpPr txBox="1">
            <a:spLocks noGrp="1"/>
          </p:cNvSpPr>
          <p:nvPr>
            <p:ph type="body" idx="1"/>
          </p:nvPr>
        </p:nvSpPr>
        <p:spPr>
          <a:xfrm>
            <a:off x="668112" y="2057400"/>
            <a:ext cx="3128382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0" name="Google Shape;210;p59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1" name="Google Shape;211;p59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2" name="Google Shape;212;p59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0"/>
          <p:cNvSpPr txBox="1">
            <a:spLocks noGrp="1"/>
          </p:cNvSpPr>
          <p:nvPr>
            <p:ph type="title"/>
          </p:nvPr>
        </p:nvSpPr>
        <p:spPr>
          <a:xfrm>
            <a:off x="666849" y="365127"/>
            <a:ext cx="83659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60"/>
          <p:cNvSpPr txBox="1">
            <a:spLocks noGrp="1"/>
          </p:cNvSpPr>
          <p:nvPr>
            <p:ph type="body" idx="1"/>
          </p:nvPr>
        </p:nvSpPr>
        <p:spPr>
          <a:xfrm rot="5400000">
            <a:off x="2674143" y="-181670"/>
            <a:ext cx="4351338" cy="836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60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7" name="Google Shape;217;p60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60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1"/>
          <p:cNvSpPr txBox="1">
            <a:spLocks noGrp="1"/>
          </p:cNvSpPr>
          <p:nvPr>
            <p:ph type="title"/>
          </p:nvPr>
        </p:nvSpPr>
        <p:spPr>
          <a:xfrm rot="5400000">
            <a:off x="5081116" y="2225303"/>
            <a:ext cx="5811838" cy="209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1"/>
          <p:cNvSpPr txBox="1">
            <a:spLocks noGrp="1"/>
          </p:cNvSpPr>
          <p:nvPr>
            <p:ph type="body" idx="1"/>
          </p:nvPr>
        </p:nvSpPr>
        <p:spPr>
          <a:xfrm rot="5400000">
            <a:off x="837531" y="194444"/>
            <a:ext cx="5811838" cy="61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61"/>
          <p:cNvSpPr txBox="1">
            <a:spLocks noGrp="1"/>
          </p:cNvSpPr>
          <p:nvPr>
            <p:ph type="dt" idx="10"/>
          </p:nvPr>
        </p:nvSpPr>
        <p:spPr>
          <a:xfrm>
            <a:off x="666849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3" name="Google Shape;223;p61"/>
          <p:cNvSpPr txBox="1">
            <a:spLocks noGrp="1"/>
          </p:cNvSpPr>
          <p:nvPr>
            <p:ph type="ftr" idx="11"/>
          </p:nvPr>
        </p:nvSpPr>
        <p:spPr>
          <a:xfrm>
            <a:off x="3213001" y="6356352"/>
            <a:ext cx="32736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4" name="Google Shape;224;p61"/>
          <p:cNvSpPr txBox="1">
            <a:spLocks noGrp="1"/>
          </p:cNvSpPr>
          <p:nvPr>
            <p:ph type="sldNum" idx="12"/>
          </p:nvPr>
        </p:nvSpPr>
        <p:spPr>
          <a:xfrm>
            <a:off x="6850360" y="6356352"/>
            <a:ext cx="21824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666849" y="365127"/>
            <a:ext cx="83659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666849" y="1825625"/>
            <a:ext cx="836592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/>
          <p:nvPr/>
        </p:nvSpPr>
        <p:spPr>
          <a:xfrm>
            <a:off x="7785637" y="6370016"/>
            <a:ext cx="16541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800" b="0" i="0" u="none" strike="noStrike" cap="non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"/>
          <p:cNvSpPr txBox="1">
            <a:spLocks noGrp="1"/>
          </p:cNvSpPr>
          <p:nvPr>
            <p:ph type="body" idx="1"/>
          </p:nvPr>
        </p:nvSpPr>
        <p:spPr>
          <a:xfrm>
            <a:off x="3885029" y="508658"/>
            <a:ext cx="5493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>
              <a:spcBef>
                <a:spcPts val="0"/>
              </a:spcBef>
            </a:pPr>
            <a:r>
              <a:rPr lang="en-US" noProof="0" dirty="0"/>
              <a:t>Master Thesis</a:t>
            </a:r>
          </a:p>
          <a:p>
            <a:pPr marL="228600" lvl="0">
              <a:spcBef>
                <a:spcPts val="0"/>
              </a:spcBef>
            </a:pPr>
            <a:r>
              <a:rPr lang="en-US" noProof="0" dirty="0"/>
              <a:t>Graduate in Aeronautical Engineering</a:t>
            </a:r>
          </a:p>
          <a:p>
            <a:pPr marL="228600" lvl="0">
              <a:spcBef>
                <a:spcPts val="0"/>
              </a:spcBef>
            </a:pPr>
            <a:r>
              <a:rPr lang="en-US" noProof="0" dirty="0"/>
              <a:t>Systems Area</a:t>
            </a:r>
          </a:p>
        </p:txBody>
      </p:sp>
      <p:sp>
        <p:nvSpPr>
          <p:cNvPr id="230" name="Google Shape;230;p1"/>
          <p:cNvSpPr txBox="1">
            <a:spLocks noGrp="1"/>
          </p:cNvSpPr>
          <p:nvPr>
            <p:ph type="body" idx="2"/>
          </p:nvPr>
        </p:nvSpPr>
        <p:spPr>
          <a:xfrm>
            <a:off x="3747327" y="1555172"/>
            <a:ext cx="5790603" cy="16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noProof="0" dirty="0"/>
              <a:t>An explainable data-driven framework for aircraft engine remaining useful life prediction and maintenance decision support</a:t>
            </a:r>
          </a:p>
        </p:txBody>
      </p:sp>
      <p:sp>
        <p:nvSpPr>
          <p:cNvPr id="231" name="Google Shape;231;p1"/>
          <p:cNvSpPr txBox="1">
            <a:spLocks noGrp="1"/>
          </p:cNvSpPr>
          <p:nvPr>
            <p:ph type="body" idx="3"/>
          </p:nvPr>
        </p:nvSpPr>
        <p:spPr>
          <a:xfrm>
            <a:off x="3906629" y="4136178"/>
            <a:ext cx="54720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</a:pPr>
            <a:r>
              <a:rPr lang="en-US" noProof="0" dirty="0"/>
              <a:t>Amanda Schneider Bassani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</a:pPr>
            <a:endParaRPr lang="en-US" noProof="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</a:pPr>
            <a:endParaRPr lang="en-US" noProof="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</a:pPr>
            <a:r>
              <a:rPr lang="en-US" noProof="0" dirty="0"/>
              <a:t>Advisor: </a:t>
            </a:r>
            <a:r>
              <a:rPr lang="pt-BR" noProof="0" dirty="0"/>
              <a:t>Prof. Dr. </a:t>
            </a:r>
            <a:r>
              <a:rPr lang="pt-BR" noProof="0" dirty="0" err="1"/>
              <a:t>Antonio</a:t>
            </a:r>
            <a:r>
              <a:rPr lang="pt-BR" noProof="0" dirty="0"/>
              <a:t> Celio Pereira de Mesquita</a:t>
            </a:r>
            <a:endParaRPr lang="en-US" noProof="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</a:pPr>
            <a:r>
              <a:rPr lang="en-US" noProof="0" dirty="0"/>
              <a:t>Co-Advisor: </a:t>
            </a:r>
            <a:r>
              <a:rPr lang="pt-BR" noProof="0" dirty="0"/>
              <a:t>Dr. João Pedro Pinheiro </a:t>
            </a:r>
            <a:r>
              <a:rPr lang="pt-BR" noProof="0" dirty="0" err="1"/>
              <a:t>Malere</a:t>
            </a:r>
            <a:r>
              <a:rPr lang="pt-BR" noProof="0" dirty="0"/>
              <a:t>, </a:t>
            </a:r>
            <a:r>
              <a:rPr lang="pt-BR" noProof="0" dirty="0" err="1"/>
              <a:t>MSc</a:t>
            </a:r>
            <a:r>
              <a:rPr lang="pt-BR" noProof="0" dirty="0"/>
              <a:t>. Rodolfo da Silva Collares </a:t>
            </a:r>
            <a:endParaRPr lang="en-US" noProof="0" dirty="0"/>
          </a:p>
        </p:txBody>
      </p:sp>
      <p:sp>
        <p:nvSpPr>
          <p:cNvPr id="232" name="Google Shape;232;p1"/>
          <p:cNvSpPr txBox="1">
            <a:spLocks noGrp="1"/>
          </p:cNvSpPr>
          <p:nvPr>
            <p:ph type="body" idx="4"/>
          </p:nvPr>
        </p:nvSpPr>
        <p:spPr>
          <a:xfrm>
            <a:off x="3906629" y="5842418"/>
            <a:ext cx="54720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</a:pPr>
            <a:r>
              <a:rPr lang="en-US" noProof="0" dirty="0"/>
              <a:t>October 5th,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2AB8BB0E-16B8-8769-2D28-CB8ED1B2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>
            <a:extLst>
              <a:ext uri="{FF2B5EF4-FFF2-40B4-BE49-F238E27FC236}">
                <a16:creationId xmlns:a16="http://schemas.microsoft.com/office/drawing/2014/main" id="{63755EDB-8E36-9E3D-1B92-7CF81F1CC7A8}"/>
              </a:ext>
            </a:extLst>
          </p:cNvPr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>
            <a:extLst>
              <a:ext uri="{FF2B5EF4-FFF2-40B4-BE49-F238E27FC236}">
                <a16:creationId xmlns:a16="http://schemas.microsoft.com/office/drawing/2014/main" id="{CBB1B9C8-BE14-31A3-EE7B-CE4D2F2F3782}"/>
              </a:ext>
            </a:extLst>
          </p:cNvPr>
          <p:cNvSpPr/>
          <p:nvPr/>
        </p:nvSpPr>
        <p:spPr>
          <a:xfrm>
            <a:off x="1782764" y="3371401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sz="2400" dirty="0"/>
          </a:p>
        </p:txBody>
      </p:sp>
      <p:sp>
        <p:nvSpPr>
          <p:cNvPr id="245" name="Google Shape;245;p3">
            <a:extLst>
              <a:ext uri="{FF2B5EF4-FFF2-40B4-BE49-F238E27FC236}">
                <a16:creationId xmlns:a16="http://schemas.microsoft.com/office/drawing/2014/main" id="{C7FC45E6-B1C6-0639-D2E9-4B35C0DD935D}"/>
              </a:ext>
            </a:extLst>
          </p:cNvPr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>
            <a:extLst>
              <a:ext uri="{FF2B5EF4-FFF2-40B4-BE49-F238E27FC236}">
                <a16:creationId xmlns:a16="http://schemas.microsoft.com/office/drawing/2014/main" id="{1F79A5A1-62F1-F790-CEA3-EBF5CA72DF4D}"/>
              </a:ext>
            </a:extLst>
          </p:cNvPr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>
            <a:extLst>
              <a:ext uri="{FF2B5EF4-FFF2-40B4-BE49-F238E27FC236}">
                <a16:creationId xmlns:a16="http://schemas.microsoft.com/office/drawing/2014/main" id="{D2BAFB7D-7C26-22E5-F6E0-1196A27D2977}"/>
              </a:ext>
            </a:extLst>
          </p:cNvPr>
          <p:cNvSpPr/>
          <p:nvPr/>
        </p:nvSpPr>
        <p:spPr>
          <a:xfrm>
            <a:off x="1782764" y="2786769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2400" dirty="0"/>
          </a:p>
        </p:txBody>
      </p:sp>
      <p:sp>
        <p:nvSpPr>
          <p:cNvPr id="248" name="Google Shape;248;p3">
            <a:extLst>
              <a:ext uri="{FF2B5EF4-FFF2-40B4-BE49-F238E27FC236}">
                <a16:creationId xmlns:a16="http://schemas.microsoft.com/office/drawing/2014/main" id="{3D786483-A0BA-5623-AB1A-31F2E97945C7}"/>
              </a:ext>
            </a:extLst>
          </p:cNvPr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>
            <a:extLst>
              <a:ext uri="{FF2B5EF4-FFF2-40B4-BE49-F238E27FC236}">
                <a16:creationId xmlns:a16="http://schemas.microsoft.com/office/drawing/2014/main" id="{8065AFBC-7447-14DB-523B-BBB30ACB0ACC}"/>
              </a:ext>
            </a:extLst>
          </p:cNvPr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>
            <a:extLst>
              <a:ext uri="{FF2B5EF4-FFF2-40B4-BE49-F238E27FC236}">
                <a16:creationId xmlns:a16="http://schemas.microsoft.com/office/drawing/2014/main" id="{5E4DC10A-E162-5555-56F5-0E379FDDAB7B}"/>
              </a:ext>
            </a:extLst>
          </p:cNvPr>
          <p:cNvSpPr/>
          <p:nvPr/>
        </p:nvSpPr>
        <p:spPr>
          <a:xfrm>
            <a:off x="1782764" y="2202137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noProof="0" dirty="0"/>
          </a:p>
        </p:txBody>
      </p:sp>
      <p:sp>
        <p:nvSpPr>
          <p:cNvPr id="251" name="Google Shape;251;p3">
            <a:extLst>
              <a:ext uri="{FF2B5EF4-FFF2-40B4-BE49-F238E27FC236}">
                <a16:creationId xmlns:a16="http://schemas.microsoft.com/office/drawing/2014/main" id="{0F6AA464-8A3B-369C-3327-B81B9CCE6D5B}"/>
              </a:ext>
            </a:extLst>
          </p:cNvPr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">
            <a:extLst>
              <a:ext uri="{FF2B5EF4-FFF2-40B4-BE49-F238E27FC236}">
                <a16:creationId xmlns:a16="http://schemas.microsoft.com/office/drawing/2014/main" id="{D30F5179-B504-A638-D559-2D333FEE4D7F}"/>
              </a:ext>
            </a:extLst>
          </p:cNvPr>
          <p:cNvSpPr/>
          <p:nvPr/>
        </p:nvSpPr>
        <p:spPr>
          <a:xfrm>
            <a:off x="1287264" y="1617505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">
            <a:extLst>
              <a:ext uri="{FF2B5EF4-FFF2-40B4-BE49-F238E27FC236}">
                <a16:creationId xmlns:a16="http://schemas.microsoft.com/office/drawing/2014/main" id="{CF4D780C-2FD9-C1A8-F58D-0008D6A79037}"/>
              </a:ext>
            </a:extLst>
          </p:cNvPr>
          <p:cNvSpPr/>
          <p:nvPr/>
        </p:nvSpPr>
        <p:spPr>
          <a:xfrm>
            <a:off x="1782764" y="1617505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">
            <a:extLst>
              <a:ext uri="{FF2B5EF4-FFF2-40B4-BE49-F238E27FC236}">
                <a16:creationId xmlns:a16="http://schemas.microsoft.com/office/drawing/2014/main" id="{4E8E951F-A8CF-6DFA-1C4C-10AFA6186F1B}"/>
              </a:ext>
            </a:extLst>
          </p:cNvPr>
          <p:cNvSpPr/>
          <p:nvPr/>
        </p:nvSpPr>
        <p:spPr>
          <a:xfrm>
            <a:off x="1287264" y="1617505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78E38A69-4009-BD66-0CD7-04B5042E37E5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5EF0E999-F3D0-190B-B161-BDD45442B78E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DCAEE4BD-D444-52CF-6400-98720FE47379}"/>
              </a:ext>
            </a:extLst>
          </p:cNvPr>
          <p:cNvSpPr/>
          <p:nvPr/>
        </p:nvSpPr>
        <p:spPr>
          <a:xfrm>
            <a:off x="1782764" y="3956033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5C663005-CF7E-67E6-2FA3-6BD5471984C9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16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/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1782764" y="3371401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sz="2400" dirty="0"/>
          </a:p>
        </p:txBody>
      </p:sp>
      <p:sp>
        <p:nvSpPr>
          <p:cNvPr id="245" name="Google Shape;245;p3"/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1782764" y="2786769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2400" dirty="0"/>
          </a:p>
        </p:txBody>
      </p:sp>
      <p:sp>
        <p:nvSpPr>
          <p:cNvPr id="248" name="Google Shape;248;p3"/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1782764" y="2202137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noProof="0" dirty="0"/>
          </a:p>
        </p:txBody>
      </p:sp>
      <p:sp>
        <p:nvSpPr>
          <p:cNvPr id="251" name="Google Shape;251;p3"/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A1C7CFDF-DE56-4C8E-9F97-660729D694F3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BE585DCD-43BA-6DE7-4BFE-A7FE7E832B9C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58743E18-9177-57C2-29D8-EC0EB4981918}"/>
              </a:ext>
            </a:extLst>
          </p:cNvPr>
          <p:cNvSpPr/>
          <p:nvPr/>
        </p:nvSpPr>
        <p:spPr>
          <a:xfrm>
            <a:off x="1782764" y="3956033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9A606BDC-09AD-43F7-EF90-0CD87585866C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52;p3">
            <a:extLst>
              <a:ext uri="{FF2B5EF4-FFF2-40B4-BE49-F238E27FC236}">
                <a16:creationId xmlns:a16="http://schemas.microsoft.com/office/drawing/2014/main" id="{62E27B34-7A35-1833-CB62-F5F0457664E2}"/>
              </a:ext>
            </a:extLst>
          </p:cNvPr>
          <p:cNvSpPr/>
          <p:nvPr/>
        </p:nvSpPr>
        <p:spPr>
          <a:xfrm>
            <a:off x="1287264" y="1615504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3;p3">
            <a:extLst>
              <a:ext uri="{FF2B5EF4-FFF2-40B4-BE49-F238E27FC236}">
                <a16:creationId xmlns:a16="http://schemas.microsoft.com/office/drawing/2014/main" id="{EB3D7A67-D92E-176E-37E9-F7EDE1B8E351}"/>
              </a:ext>
            </a:extLst>
          </p:cNvPr>
          <p:cNvSpPr/>
          <p:nvPr/>
        </p:nvSpPr>
        <p:spPr>
          <a:xfrm>
            <a:off x="1782764" y="1615504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4;p3">
            <a:extLst>
              <a:ext uri="{FF2B5EF4-FFF2-40B4-BE49-F238E27FC236}">
                <a16:creationId xmlns:a16="http://schemas.microsoft.com/office/drawing/2014/main" id="{714A13E4-3F9D-CEFC-1FCB-67EFAC095281}"/>
              </a:ext>
            </a:extLst>
          </p:cNvPr>
          <p:cNvSpPr/>
          <p:nvPr/>
        </p:nvSpPr>
        <p:spPr>
          <a:xfrm>
            <a:off x="1287264" y="1615504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1141BC-716D-532D-7B52-4FE9A7472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816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predictive maintenance</a:t>
            </a:r>
            <a:r>
              <a:rPr lang="en-US" dirty="0"/>
              <a:t> is essential for improving reliability, safety, and cost efficiency in aerospace systems.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Remaining Useful Life (RUL) prediction enables </a:t>
            </a:r>
            <a:r>
              <a:rPr lang="en-US" b="1" dirty="0"/>
              <a:t>proactive</a:t>
            </a:r>
            <a:r>
              <a:rPr lang="en-US" dirty="0"/>
              <a:t> maintenance planning and failure prevention.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Machine Learning provides data-driven methods for </a:t>
            </a:r>
            <a:r>
              <a:rPr lang="en-US" b="1" dirty="0"/>
              <a:t>health monitoring </a:t>
            </a:r>
            <a:r>
              <a:rPr lang="en-US" dirty="0"/>
              <a:t>and prognostics.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The goal is to </a:t>
            </a:r>
            <a:r>
              <a:rPr lang="en-US" b="1" dirty="0"/>
              <a:t>bridge the gap </a:t>
            </a:r>
            <a:r>
              <a:rPr lang="en-US" dirty="0"/>
              <a:t>between predictive models and practical maintenance decision-making.</a:t>
            </a:r>
          </a:p>
          <a:p>
            <a:pPr marL="60960" indent="0"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E2B14-0B9B-BB7F-4B3B-6B9DD02555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 err="1"/>
              <a:t>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0F11-CF44-809A-7818-9124181A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19AD36-E4A4-C7C0-8201-B0C6BC1D3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and validate a data-driven framework for predicting aircraft engine RUL that not only aims accuracy but also systematically </a:t>
            </a:r>
            <a:r>
              <a:rPr lang="en-US" b="1" dirty="0"/>
              <a:t>manages the operational risks associated with prediction errors</a:t>
            </a:r>
            <a:r>
              <a:rPr lang="en-US" dirty="0"/>
              <a:t>.</a:t>
            </a:r>
          </a:p>
          <a:p>
            <a:r>
              <a:rPr lang="en-US" dirty="0"/>
              <a:t>Specific objectives:</a:t>
            </a:r>
          </a:p>
          <a:p>
            <a:pPr marL="1079500" lvl="1" indent="-457200">
              <a:buFont typeface="+mj-lt"/>
              <a:buAutoNum type="arabicPeriod"/>
            </a:pPr>
            <a:r>
              <a:rPr lang="en-US" dirty="0"/>
              <a:t>To identify the significant degradation in sensor data;</a:t>
            </a:r>
          </a:p>
          <a:p>
            <a:pPr marL="1079500" lvl="1" indent="-457200">
              <a:buFont typeface="+mj-lt"/>
              <a:buAutoNum type="arabicPeriod"/>
            </a:pPr>
            <a:r>
              <a:rPr lang="en-US" dirty="0"/>
              <a:t>To identify the most accurate predictor;</a:t>
            </a:r>
          </a:p>
          <a:p>
            <a:pPr marL="1079500" lvl="1" indent="-457200">
              <a:buFont typeface="+mj-lt"/>
              <a:buAutoNum type="arabicPeriod"/>
            </a:pPr>
            <a:r>
              <a:rPr lang="en-US" dirty="0"/>
              <a:t>To develop a post-processing using a corrective health margin;</a:t>
            </a:r>
          </a:p>
          <a:p>
            <a:pPr marL="1079500" lvl="1" indent="-457200">
              <a:buFont typeface="+mj-lt"/>
              <a:buAutoNum type="arabicPeriod"/>
            </a:pPr>
            <a:r>
              <a:rPr lang="en-US" dirty="0"/>
              <a:t>To make a tradeoff between an improved health margin and a reduction in maintenance lead 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C84DE-256C-3695-63EF-F8A8F645D42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 err="1"/>
              <a:t>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52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C811B3-88D4-4CA1-307F-168D1FC1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>
            <a:extLst>
              <a:ext uri="{FF2B5EF4-FFF2-40B4-BE49-F238E27FC236}">
                <a16:creationId xmlns:a16="http://schemas.microsoft.com/office/drawing/2014/main" id="{A35D272E-7285-E7C6-676D-73971E3BC9D9}"/>
              </a:ext>
            </a:extLst>
          </p:cNvPr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>
            <a:extLst>
              <a:ext uri="{FF2B5EF4-FFF2-40B4-BE49-F238E27FC236}">
                <a16:creationId xmlns:a16="http://schemas.microsoft.com/office/drawing/2014/main" id="{65C9BCBA-12F2-48C4-82EB-6152ECD9BAF2}"/>
              </a:ext>
            </a:extLst>
          </p:cNvPr>
          <p:cNvSpPr/>
          <p:nvPr/>
        </p:nvSpPr>
        <p:spPr>
          <a:xfrm>
            <a:off x="1782764" y="3371401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sz="2400" dirty="0"/>
          </a:p>
        </p:txBody>
      </p:sp>
      <p:sp>
        <p:nvSpPr>
          <p:cNvPr id="245" name="Google Shape;245;p3">
            <a:extLst>
              <a:ext uri="{FF2B5EF4-FFF2-40B4-BE49-F238E27FC236}">
                <a16:creationId xmlns:a16="http://schemas.microsoft.com/office/drawing/2014/main" id="{184428FE-51A9-6345-5D6D-44324BEF1677}"/>
              </a:ext>
            </a:extLst>
          </p:cNvPr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>
            <a:extLst>
              <a:ext uri="{FF2B5EF4-FFF2-40B4-BE49-F238E27FC236}">
                <a16:creationId xmlns:a16="http://schemas.microsoft.com/office/drawing/2014/main" id="{38211A5B-8210-3B35-01A6-E8AF972D3F32}"/>
              </a:ext>
            </a:extLst>
          </p:cNvPr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>
            <a:extLst>
              <a:ext uri="{FF2B5EF4-FFF2-40B4-BE49-F238E27FC236}">
                <a16:creationId xmlns:a16="http://schemas.microsoft.com/office/drawing/2014/main" id="{3D4B755A-E451-54F7-2896-0A0BF1378C1A}"/>
              </a:ext>
            </a:extLst>
          </p:cNvPr>
          <p:cNvSpPr/>
          <p:nvPr/>
        </p:nvSpPr>
        <p:spPr>
          <a:xfrm>
            <a:off x="1782764" y="2786769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2400" dirty="0"/>
          </a:p>
        </p:txBody>
      </p:sp>
      <p:sp>
        <p:nvSpPr>
          <p:cNvPr id="248" name="Google Shape;248;p3">
            <a:extLst>
              <a:ext uri="{FF2B5EF4-FFF2-40B4-BE49-F238E27FC236}">
                <a16:creationId xmlns:a16="http://schemas.microsoft.com/office/drawing/2014/main" id="{93C967F8-9B9C-02BC-1B8F-6695277760DB}"/>
              </a:ext>
            </a:extLst>
          </p:cNvPr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>
            <a:extLst>
              <a:ext uri="{FF2B5EF4-FFF2-40B4-BE49-F238E27FC236}">
                <a16:creationId xmlns:a16="http://schemas.microsoft.com/office/drawing/2014/main" id="{F7344D93-A13B-B7F6-81C3-6172A5EA7A2A}"/>
              </a:ext>
            </a:extLst>
          </p:cNvPr>
          <p:cNvSpPr/>
          <p:nvPr/>
        </p:nvSpPr>
        <p:spPr>
          <a:xfrm>
            <a:off x="1287264" y="1617505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>
            <a:extLst>
              <a:ext uri="{FF2B5EF4-FFF2-40B4-BE49-F238E27FC236}">
                <a16:creationId xmlns:a16="http://schemas.microsoft.com/office/drawing/2014/main" id="{4A1945C0-59B5-9597-A0BB-14C602E90E6C}"/>
              </a:ext>
            </a:extLst>
          </p:cNvPr>
          <p:cNvSpPr/>
          <p:nvPr/>
        </p:nvSpPr>
        <p:spPr>
          <a:xfrm>
            <a:off x="1782764" y="1617505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noProof="0" dirty="0"/>
          </a:p>
        </p:txBody>
      </p:sp>
      <p:sp>
        <p:nvSpPr>
          <p:cNvPr id="251" name="Google Shape;251;p3">
            <a:extLst>
              <a:ext uri="{FF2B5EF4-FFF2-40B4-BE49-F238E27FC236}">
                <a16:creationId xmlns:a16="http://schemas.microsoft.com/office/drawing/2014/main" id="{A537E689-BAC5-58FA-5AFE-AFB073A1CA4D}"/>
              </a:ext>
            </a:extLst>
          </p:cNvPr>
          <p:cNvSpPr/>
          <p:nvPr/>
        </p:nvSpPr>
        <p:spPr>
          <a:xfrm>
            <a:off x="1287264" y="1617505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7500A3FA-C788-8313-6DAA-C1C67799603D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B4A280D0-024E-C7BA-6F68-9A753066ECB1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2EB14C82-1BE8-9397-BD9F-9B16A682014F}"/>
              </a:ext>
            </a:extLst>
          </p:cNvPr>
          <p:cNvSpPr/>
          <p:nvPr/>
        </p:nvSpPr>
        <p:spPr>
          <a:xfrm>
            <a:off x="1782764" y="3956033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BD913400-02EE-BED0-2098-E20CF7EE3E08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52;p3">
            <a:extLst>
              <a:ext uri="{FF2B5EF4-FFF2-40B4-BE49-F238E27FC236}">
                <a16:creationId xmlns:a16="http://schemas.microsoft.com/office/drawing/2014/main" id="{3CBEE417-80CB-CD18-66AA-777EB20360DC}"/>
              </a:ext>
            </a:extLst>
          </p:cNvPr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3;p3">
            <a:extLst>
              <a:ext uri="{FF2B5EF4-FFF2-40B4-BE49-F238E27FC236}">
                <a16:creationId xmlns:a16="http://schemas.microsoft.com/office/drawing/2014/main" id="{497D1CC0-FBBE-9062-A869-10FBE37BD323}"/>
              </a:ext>
            </a:extLst>
          </p:cNvPr>
          <p:cNvSpPr/>
          <p:nvPr/>
        </p:nvSpPr>
        <p:spPr>
          <a:xfrm>
            <a:off x="1782764" y="2202137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4;p3">
            <a:extLst>
              <a:ext uri="{FF2B5EF4-FFF2-40B4-BE49-F238E27FC236}">
                <a16:creationId xmlns:a16="http://schemas.microsoft.com/office/drawing/2014/main" id="{A614CA57-238E-8D43-87DD-F276DDA71F24}"/>
              </a:ext>
            </a:extLst>
          </p:cNvPr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788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E42FAB-576B-44B6-1095-6649D99D2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67" y="1637682"/>
            <a:ext cx="8813382" cy="358263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46ACD-EF06-592D-05BB-976A341F81A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Aircraft Engine Prognostics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361115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06EACD-DFCE-63C5-5D73-C8E1A1479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8160" indent="-457200">
              <a:buFont typeface="+mj-lt"/>
              <a:buAutoNum type="arabicPeriod"/>
            </a:pPr>
            <a:r>
              <a:rPr lang="en-US" dirty="0"/>
              <a:t>Significant </a:t>
            </a:r>
            <a:r>
              <a:rPr lang="en-US" b="1" dirty="0"/>
              <a:t>improvements in prediction accuracy</a:t>
            </a:r>
            <a:r>
              <a:rPr lang="en-US" dirty="0"/>
              <a:t> using machine learning.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Most works focus primarily on regression metrics and not on the </a:t>
            </a:r>
            <a:r>
              <a:rPr lang="en-US" b="1" dirty="0"/>
              <a:t>operational consequences </a:t>
            </a:r>
            <a:r>
              <a:rPr lang="en-US" dirty="0"/>
              <a:t>of prediction errors.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Aviation applications require </a:t>
            </a:r>
            <a:r>
              <a:rPr lang="en-US" b="1" dirty="0"/>
              <a:t>transparent and interpretable models </a:t>
            </a:r>
            <a:r>
              <a:rPr lang="en-US" dirty="0"/>
              <a:t>to support engineering and maintenance decisions.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Better explainability of </a:t>
            </a:r>
            <a:r>
              <a:rPr lang="en-US" b="1" dirty="0"/>
              <a:t>classical machine learning </a:t>
            </a:r>
            <a:r>
              <a:rPr lang="en-US" dirty="0"/>
              <a:t>models than deep learning approaches.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BC6F0-444F-CE99-80C4-A247E66829A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Machine Learning for RUL Prediction and Explainability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CAE2D-D53D-2411-A45F-9C2B40064F0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5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292F-98DB-9FE6-142C-ADDB9922454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Identified Research Gaps and Proposed Contribution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C4C1E-FC78-363E-4192-F784E6E211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6DF76D1-FCFF-AEFB-3A69-DFA8BFF199F8}"/>
              </a:ext>
            </a:extLst>
          </p:cNvPr>
          <p:cNvGrpSpPr/>
          <p:nvPr/>
        </p:nvGrpSpPr>
        <p:grpSpPr>
          <a:xfrm>
            <a:off x="393873" y="1397322"/>
            <a:ext cx="8911877" cy="3746500"/>
            <a:chOff x="491886" y="1320800"/>
            <a:chExt cx="8911877" cy="37465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833B158-E117-5819-C252-B5AC029D6501}"/>
                </a:ext>
              </a:extLst>
            </p:cNvPr>
            <p:cNvSpPr/>
            <p:nvPr/>
          </p:nvSpPr>
          <p:spPr>
            <a:xfrm>
              <a:off x="491886" y="1320800"/>
              <a:ext cx="4273158" cy="3746500"/>
            </a:xfrm>
            <a:prstGeom prst="roundRect">
              <a:avLst/>
            </a:prstGeom>
            <a:solidFill>
              <a:srgbClr val="FFD9D9"/>
            </a:solidFill>
            <a:ln>
              <a:solidFill>
                <a:srgbClr val="FFB9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15829FB-0946-24F3-6EEA-9A0C21E83D95}"/>
                </a:ext>
              </a:extLst>
            </p:cNvPr>
            <p:cNvSpPr/>
            <p:nvPr/>
          </p:nvSpPr>
          <p:spPr>
            <a:xfrm>
              <a:off x="5130605" y="1320800"/>
              <a:ext cx="4273158" cy="3746500"/>
            </a:xfrm>
            <a:prstGeom prst="roundRect">
              <a:avLst/>
            </a:prstGeom>
            <a:solidFill>
              <a:srgbClr val="DAE9F6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DA88C3-51C6-8D9E-DB8C-1CF7E3529622}"/>
                </a:ext>
              </a:extLst>
            </p:cNvPr>
            <p:cNvSpPr txBox="1"/>
            <p:nvPr/>
          </p:nvSpPr>
          <p:spPr>
            <a:xfrm>
              <a:off x="979839" y="1562745"/>
              <a:ext cx="2971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Identified Research Gaps</a:t>
              </a:r>
              <a:endParaRPr lang="en-US" sz="1100" b="1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C2D0F6-60D8-F049-6576-02DCF73CC88B}"/>
                </a:ext>
              </a:extLst>
            </p:cNvPr>
            <p:cNvGrpSpPr/>
            <p:nvPr/>
          </p:nvGrpSpPr>
          <p:grpSpPr>
            <a:xfrm>
              <a:off x="857447" y="2199158"/>
              <a:ext cx="376251" cy="381645"/>
              <a:chOff x="1038225" y="2331238"/>
              <a:chExt cx="376251" cy="38164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5DF49AE-D341-2777-9517-4C1CB540519A}"/>
                  </a:ext>
                </a:extLst>
              </p:cNvPr>
              <p:cNvSpPr/>
              <p:nvPr/>
            </p:nvSpPr>
            <p:spPr>
              <a:xfrm>
                <a:off x="1038225" y="2331238"/>
                <a:ext cx="376251" cy="381645"/>
              </a:xfrm>
              <a:prstGeom prst="ellipse">
                <a:avLst/>
              </a:prstGeom>
              <a:solidFill>
                <a:srgbClr val="FFB9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55C45BD-85A2-9DEF-6DB1-262495C0BBCC}"/>
                  </a:ext>
                </a:extLst>
              </p:cNvPr>
              <p:cNvGrpSpPr/>
              <p:nvPr/>
            </p:nvGrpSpPr>
            <p:grpSpPr>
              <a:xfrm rot="19003991">
                <a:off x="1126730" y="2430575"/>
                <a:ext cx="199238" cy="182967"/>
                <a:chOff x="220980" y="1836420"/>
                <a:chExt cx="199238" cy="182967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BAEFC9F4-51F4-BDB5-50F7-E839875666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0599" y="1836420"/>
                  <a:ext cx="0" cy="182967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6BD8963-7B42-A7BA-B378-59D4E0381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80" y="1927904"/>
                  <a:ext cx="199238" cy="0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B52955-6FA0-01CA-B157-32DDC7FA9E5F}"/>
                </a:ext>
              </a:extLst>
            </p:cNvPr>
            <p:cNvSpPr txBox="1"/>
            <p:nvPr/>
          </p:nvSpPr>
          <p:spPr>
            <a:xfrm>
              <a:off x="1233695" y="2236092"/>
              <a:ext cx="321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Fixed or predefined degradation onset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35CFFB-88B7-C002-1F4F-9A4EA8EE0445}"/>
                </a:ext>
              </a:extLst>
            </p:cNvPr>
            <p:cNvGrpSpPr/>
            <p:nvPr/>
          </p:nvGrpSpPr>
          <p:grpSpPr>
            <a:xfrm>
              <a:off x="857447" y="2879888"/>
              <a:ext cx="376251" cy="381645"/>
              <a:chOff x="1038225" y="2331238"/>
              <a:chExt cx="376251" cy="38164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BE1D365-EFD7-141F-690C-3CB77A0EFF4E}"/>
                  </a:ext>
                </a:extLst>
              </p:cNvPr>
              <p:cNvSpPr/>
              <p:nvPr/>
            </p:nvSpPr>
            <p:spPr>
              <a:xfrm>
                <a:off x="1038225" y="2331238"/>
                <a:ext cx="376251" cy="381645"/>
              </a:xfrm>
              <a:prstGeom prst="ellipse">
                <a:avLst/>
              </a:prstGeom>
              <a:solidFill>
                <a:srgbClr val="FFB9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E571B59-1FDE-E300-4905-6C9A0674ED5A}"/>
                  </a:ext>
                </a:extLst>
              </p:cNvPr>
              <p:cNvGrpSpPr/>
              <p:nvPr/>
            </p:nvGrpSpPr>
            <p:grpSpPr>
              <a:xfrm rot="19003991">
                <a:off x="1126730" y="2430575"/>
                <a:ext cx="199238" cy="182967"/>
                <a:chOff x="220980" y="1836420"/>
                <a:chExt cx="199238" cy="182967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2323F5F-83E9-0AB0-7BF4-A617FB39C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0599" y="1836420"/>
                  <a:ext cx="0" cy="182967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EB56DED-A4B1-E423-178C-6AA3146C3A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80" y="1927904"/>
                  <a:ext cx="199238" cy="0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DACF9B-7419-80B3-059E-B72BA63E75C7}"/>
                </a:ext>
              </a:extLst>
            </p:cNvPr>
            <p:cNvSpPr txBox="1"/>
            <p:nvPr/>
          </p:nvSpPr>
          <p:spPr>
            <a:xfrm>
              <a:off x="1233695" y="2821292"/>
              <a:ext cx="31291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t"/>
              <a:r>
                <a:rPr lang="en-US" dirty="0"/>
                <a:t>Limited focus on explainability for maintenance stakeholders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EBBC260-3315-F830-0567-2428E7DE984C}"/>
                </a:ext>
              </a:extLst>
            </p:cNvPr>
            <p:cNvGrpSpPr/>
            <p:nvPr/>
          </p:nvGrpSpPr>
          <p:grpSpPr>
            <a:xfrm>
              <a:off x="857447" y="3567140"/>
              <a:ext cx="376251" cy="381645"/>
              <a:chOff x="1038225" y="2331238"/>
              <a:chExt cx="376251" cy="381645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8E46FCA-FE6B-C62B-8A58-3B5E0AE0E986}"/>
                  </a:ext>
                </a:extLst>
              </p:cNvPr>
              <p:cNvSpPr/>
              <p:nvPr/>
            </p:nvSpPr>
            <p:spPr>
              <a:xfrm>
                <a:off x="1038225" y="2331238"/>
                <a:ext cx="376251" cy="381645"/>
              </a:xfrm>
              <a:prstGeom prst="ellipse">
                <a:avLst/>
              </a:prstGeom>
              <a:solidFill>
                <a:srgbClr val="FFB9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BB2778E-F0A6-928C-95AF-3BCA2AD45349}"/>
                  </a:ext>
                </a:extLst>
              </p:cNvPr>
              <p:cNvGrpSpPr/>
              <p:nvPr/>
            </p:nvGrpSpPr>
            <p:grpSpPr>
              <a:xfrm rot="19003991">
                <a:off x="1126730" y="2430575"/>
                <a:ext cx="199238" cy="182967"/>
                <a:chOff x="220980" y="1836420"/>
                <a:chExt cx="199238" cy="182967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B48CB27F-03DF-356C-9883-E8E6B05ACA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0599" y="1836420"/>
                  <a:ext cx="0" cy="182967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932E8238-A856-CD3C-B720-E9CB2E1512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80" y="1927904"/>
                  <a:ext cx="199238" cy="0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EDF8D4-A785-F0B1-25F5-53AD3AD6FA29}"/>
                </a:ext>
              </a:extLst>
            </p:cNvPr>
            <p:cNvSpPr txBox="1"/>
            <p:nvPr/>
          </p:nvSpPr>
          <p:spPr>
            <a:xfrm>
              <a:off x="1233695" y="3508544"/>
              <a:ext cx="32184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t"/>
              <a:r>
                <a:rPr lang="en-US" dirty="0"/>
                <a:t>Limited consideration of RUL overestimation risk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441F952-C035-5382-7A45-319D5C9EC4CC}"/>
                </a:ext>
              </a:extLst>
            </p:cNvPr>
            <p:cNvGrpSpPr/>
            <p:nvPr/>
          </p:nvGrpSpPr>
          <p:grpSpPr>
            <a:xfrm>
              <a:off x="857447" y="4225134"/>
              <a:ext cx="376251" cy="381645"/>
              <a:chOff x="1038225" y="2331238"/>
              <a:chExt cx="376251" cy="381645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D899D6A-5062-5658-9D1C-E198248265F0}"/>
                  </a:ext>
                </a:extLst>
              </p:cNvPr>
              <p:cNvSpPr/>
              <p:nvPr/>
            </p:nvSpPr>
            <p:spPr>
              <a:xfrm>
                <a:off x="1038225" y="2331238"/>
                <a:ext cx="376251" cy="381645"/>
              </a:xfrm>
              <a:prstGeom prst="ellipse">
                <a:avLst/>
              </a:prstGeom>
              <a:solidFill>
                <a:srgbClr val="FFB9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9F04400-F2FE-7110-BFF0-98A649385F22}"/>
                  </a:ext>
                </a:extLst>
              </p:cNvPr>
              <p:cNvGrpSpPr/>
              <p:nvPr/>
            </p:nvGrpSpPr>
            <p:grpSpPr>
              <a:xfrm rot="19003991">
                <a:off x="1126730" y="2430575"/>
                <a:ext cx="199238" cy="182967"/>
                <a:chOff x="220980" y="1836420"/>
                <a:chExt cx="199238" cy="182967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553EF91-0312-F26B-942B-EEBA39A8A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0599" y="1836420"/>
                  <a:ext cx="0" cy="182967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0948A14-A282-496C-0D33-70068B6468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80" y="1927904"/>
                  <a:ext cx="199238" cy="0"/>
                </a:xfrm>
                <a:prstGeom prst="line">
                  <a:avLst/>
                </a:prstGeom>
                <a:ln w="38100">
                  <a:solidFill>
                    <a:srgbClr val="B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17D86C3-7043-6BA8-56EE-6D7F1DDC0C32}"/>
                </a:ext>
              </a:extLst>
            </p:cNvPr>
            <p:cNvSpPr txBox="1"/>
            <p:nvPr/>
          </p:nvSpPr>
          <p:spPr>
            <a:xfrm>
              <a:off x="1233695" y="4166538"/>
              <a:ext cx="32307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t"/>
              <a:r>
                <a:rPr lang="en-US" dirty="0"/>
                <a:t>Little integration between prognostic outputs and maintenance decisions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9F08EC4-24FA-4EA1-671B-530DC6555BAA}"/>
                </a:ext>
              </a:extLst>
            </p:cNvPr>
            <p:cNvGrpSpPr/>
            <p:nvPr/>
          </p:nvGrpSpPr>
          <p:grpSpPr>
            <a:xfrm>
              <a:off x="5436129" y="2199155"/>
              <a:ext cx="376251" cy="381645"/>
              <a:chOff x="5933755" y="2625413"/>
              <a:chExt cx="376251" cy="381645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E5A9945-C8B0-1B13-816C-244C94E60691}"/>
                  </a:ext>
                </a:extLst>
              </p:cNvPr>
              <p:cNvSpPr/>
              <p:nvPr/>
            </p:nvSpPr>
            <p:spPr>
              <a:xfrm>
                <a:off x="5933755" y="2625413"/>
                <a:ext cx="376251" cy="38164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59D7704-E2CE-4D00-7DF7-419AC955F525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 flipV="1">
                <a:off x="6067451" y="2794240"/>
                <a:ext cx="0" cy="10800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425EE5D-E756-CDDF-23EC-CD893CD6EB3F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>
                <a:off x="6063855" y="2831475"/>
                <a:ext cx="199238" cy="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190320C-AA01-241D-76CD-2C9B913A1416}"/>
                </a:ext>
              </a:extLst>
            </p:cNvPr>
            <p:cNvSpPr txBox="1"/>
            <p:nvPr/>
          </p:nvSpPr>
          <p:spPr>
            <a:xfrm>
              <a:off x="5781284" y="1562745"/>
              <a:ext cx="2971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Proposed Contribution</a:t>
              </a:r>
              <a:endParaRPr lang="en-US" sz="11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2B0F238-D06A-8654-4FA7-95EA7AC286BA}"/>
                </a:ext>
              </a:extLst>
            </p:cNvPr>
            <p:cNvSpPr txBox="1"/>
            <p:nvPr/>
          </p:nvSpPr>
          <p:spPr>
            <a:xfrm>
              <a:off x="5810500" y="2237679"/>
              <a:ext cx="321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Automatic degradation onset detection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4889B4E-1253-0F2F-5D45-D9AB4FDF3965}"/>
                </a:ext>
              </a:extLst>
            </p:cNvPr>
            <p:cNvGrpSpPr/>
            <p:nvPr/>
          </p:nvGrpSpPr>
          <p:grpSpPr>
            <a:xfrm>
              <a:off x="5436129" y="2847878"/>
              <a:ext cx="376251" cy="381645"/>
              <a:chOff x="5933755" y="2625413"/>
              <a:chExt cx="376251" cy="381645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D1E36D3-F44F-E711-99DA-3439B257DB6A}"/>
                  </a:ext>
                </a:extLst>
              </p:cNvPr>
              <p:cNvSpPr/>
              <p:nvPr/>
            </p:nvSpPr>
            <p:spPr>
              <a:xfrm>
                <a:off x="5933755" y="2625413"/>
                <a:ext cx="376251" cy="38164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E155E57-3E35-E7D2-D7F4-898A4D7E9976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 flipV="1">
                <a:off x="6067451" y="2794240"/>
                <a:ext cx="0" cy="10800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52668BB-C688-2A42-00F0-BFF2702D979A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>
                <a:off x="6063855" y="2831475"/>
                <a:ext cx="199238" cy="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71B486-92C3-A17C-91CB-FE945EB9DCDC}"/>
                </a:ext>
              </a:extLst>
            </p:cNvPr>
            <p:cNvSpPr txBox="1"/>
            <p:nvPr/>
          </p:nvSpPr>
          <p:spPr>
            <a:xfrm>
              <a:off x="5810500" y="2780706"/>
              <a:ext cx="3252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Explainable machine-learning prognostics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DDB9597-8D77-66FC-C796-3DA9D3BA4918}"/>
                </a:ext>
              </a:extLst>
            </p:cNvPr>
            <p:cNvGrpSpPr/>
            <p:nvPr/>
          </p:nvGrpSpPr>
          <p:grpSpPr>
            <a:xfrm>
              <a:off x="5436129" y="3495934"/>
              <a:ext cx="376251" cy="381645"/>
              <a:chOff x="5933755" y="2625413"/>
              <a:chExt cx="376251" cy="381645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0E00773-865F-BD81-C653-10469942F33D}"/>
                  </a:ext>
                </a:extLst>
              </p:cNvPr>
              <p:cNvSpPr/>
              <p:nvPr/>
            </p:nvSpPr>
            <p:spPr>
              <a:xfrm>
                <a:off x="5933755" y="2625413"/>
                <a:ext cx="376251" cy="38164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D7AA15F-7A34-21AC-0D8E-CA4A20350BFD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 flipV="1">
                <a:off x="6067451" y="2794240"/>
                <a:ext cx="0" cy="10800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62E3D25-F926-E190-FFE9-DA646AC434B2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>
                <a:off x="6063855" y="2831475"/>
                <a:ext cx="199238" cy="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BE1E202-2BD9-07C2-7B2A-5B681CF41A6A}"/>
                </a:ext>
              </a:extLst>
            </p:cNvPr>
            <p:cNvSpPr txBox="1"/>
            <p:nvPr/>
          </p:nvSpPr>
          <p:spPr>
            <a:xfrm>
              <a:off x="5810500" y="3436382"/>
              <a:ext cx="3252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Health-margin strategy to reduce late maintenance recommendations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76A2656-C70B-86FD-79F8-46FD63222472}"/>
                </a:ext>
              </a:extLst>
            </p:cNvPr>
            <p:cNvGrpSpPr/>
            <p:nvPr/>
          </p:nvGrpSpPr>
          <p:grpSpPr>
            <a:xfrm>
              <a:off x="5436129" y="4213898"/>
              <a:ext cx="376251" cy="381645"/>
              <a:chOff x="5933755" y="2625413"/>
              <a:chExt cx="376251" cy="381645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7B3FA88-DA31-E405-7519-FB47EDE3DD37}"/>
                  </a:ext>
                </a:extLst>
              </p:cNvPr>
              <p:cNvSpPr/>
              <p:nvPr/>
            </p:nvSpPr>
            <p:spPr>
              <a:xfrm>
                <a:off x="5933755" y="2625413"/>
                <a:ext cx="376251" cy="38164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F9C3FBB-DFDE-AC08-294F-92E4E5AE05F5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 flipV="1">
                <a:off x="6067451" y="2794240"/>
                <a:ext cx="0" cy="10800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EAC6B96-4276-39FD-5771-E5BB66AA943F}"/>
                  </a:ext>
                </a:extLst>
              </p:cNvPr>
              <p:cNvCxnSpPr>
                <a:cxnSpLocks/>
              </p:cNvCxnSpPr>
              <p:nvPr/>
            </p:nvCxnSpPr>
            <p:spPr>
              <a:xfrm rot="19003991">
                <a:off x="6063855" y="2831475"/>
                <a:ext cx="199238" cy="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7BD8FB0-8C18-D9A9-7DF6-6A6B59E384C9}"/>
                </a:ext>
              </a:extLst>
            </p:cNvPr>
            <p:cNvSpPr txBox="1"/>
            <p:nvPr/>
          </p:nvSpPr>
          <p:spPr>
            <a:xfrm>
              <a:off x="5810500" y="4154346"/>
              <a:ext cx="3252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Maintenance-oriented decision-support framework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499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BFC08-462B-9704-4BD5-74E4D570268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1A40E2F-931E-7A65-F072-00B91D0CBC04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Identified Research Gaps and Proposed Contribution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DDDBAA-F593-923A-40C5-B1D738A348DF}"/>
              </a:ext>
            </a:extLst>
          </p:cNvPr>
          <p:cNvGrpSpPr/>
          <p:nvPr/>
        </p:nvGrpSpPr>
        <p:grpSpPr>
          <a:xfrm>
            <a:off x="115252" y="1674426"/>
            <a:ext cx="9469120" cy="2867756"/>
            <a:chOff x="115252" y="1674426"/>
            <a:chExt cx="9469120" cy="286775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695E2C-4F31-AC6A-63B7-BCE1429A7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252" y="1674426"/>
              <a:ext cx="9469120" cy="286775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398D10-AF8D-E17A-DD19-BBFC40279211}"/>
                </a:ext>
              </a:extLst>
            </p:cNvPr>
            <p:cNvSpPr/>
            <p:nvPr/>
          </p:nvSpPr>
          <p:spPr>
            <a:xfrm>
              <a:off x="162560" y="1732281"/>
              <a:ext cx="9392920" cy="680720"/>
            </a:xfrm>
            <a:prstGeom prst="rect">
              <a:avLst/>
            </a:prstGeom>
            <a:solidFill>
              <a:schemeClr val="accent1">
                <a:lumMod val="75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0F82A6C4-FD5F-2C27-BF53-B92BF5CD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>
            <a:extLst>
              <a:ext uri="{FF2B5EF4-FFF2-40B4-BE49-F238E27FC236}">
                <a16:creationId xmlns:a16="http://schemas.microsoft.com/office/drawing/2014/main" id="{BC164732-D9A0-2585-F3E2-32EE81674DC5}"/>
              </a:ext>
            </a:extLst>
          </p:cNvPr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>
            <a:extLst>
              <a:ext uri="{FF2B5EF4-FFF2-40B4-BE49-F238E27FC236}">
                <a16:creationId xmlns:a16="http://schemas.microsoft.com/office/drawing/2014/main" id="{685A93DC-A95C-2603-4169-383CB301C7E2}"/>
              </a:ext>
            </a:extLst>
          </p:cNvPr>
          <p:cNvSpPr/>
          <p:nvPr/>
        </p:nvSpPr>
        <p:spPr>
          <a:xfrm>
            <a:off x="1782764" y="3371401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sz="2400" dirty="0"/>
          </a:p>
        </p:txBody>
      </p:sp>
      <p:sp>
        <p:nvSpPr>
          <p:cNvPr id="245" name="Google Shape;245;p3">
            <a:extLst>
              <a:ext uri="{FF2B5EF4-FFF2-40B4-BE49-F238E27FC236}">
                <a16:creationId xmlns:a16="http://schemas.microsoft.com/office/drawing/2014/main" id="{F6AF20C9-4E25-3F2B-9690-61ECE3153547}"/>
              </a:ext>
            </a:extLst>
          </p:cNvPr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>
            <a:extLst>
              <a:ext uri="{FF2B5EF4-FFF2-40B4-BE49-F238E27FC236}">
                <a16:creationId xmlns:a16="http://schemas.microsoft.com/office/drawing/2014/main" id="{F40092D5-73ED-C4FD-2C49-6F6A626CADE5}"/>
              </a:ext>
            </a:extLst>
          </p:cNvPr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>
            <a:extLst>
              <a:ext uri="{FF2B5EF4-FFF2-40B4-BE49-F238E27FC236}">
                <a16:creationId xmlns:a16="http://schemas.microsoft.com/office/drawing/2014/main" id="{8C955F10-259B-5AB5-C531-BF98C13860F4}"/>
              </a:ext>
            </a:extLst>
          </p:cNvPr>
          <p:cNvSpPr/>
          <p:nvPr/>
        </p:nvSpPr>
        <p:spPr>
          <a:xfrm>
            <a:off x="1782764" y="2202137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sz="2400" dirty="0"/>
          </a:p>
        </p:txBody>
      </p:sp>
      <p:sp>
        <p:nvSpPr>
          <p:cNvPr id="248" name="Google Shape;248;p3">
            <a:extLst>
              <a:ext uri="{FF2B5EF4-FFF2-40B4-BE49-F238E27FC236}">
                <a16:creationId xmlns:a16="http://schemas.microsoft.com/office/drawing/2014/main" id="{9F4644D8-62DB-E8CE-F063-2AC735C7249D}"/>
              </a:ext>
            </a:extLst>
          </p:cNvPr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>
            <a:extLst>
              <a:ext uri="{FF2B5EF4-FFF2-40B4-BE49-F238E27FC236}">
                <a16:creationId xmlns:a16="http://schemas.microsoft.com/office/drawing/2014/main" id="{1CC8EE6B-834B-5841-294E-1B7494013794}"/>
              </a:ext>
            </a:extLst>
          </p:cNvPr>
          <p:cNvSpPr/>
          <p:nvPr/>
        </p:nvSpPr>
        <p:spPr>
          <a:xfrm>
            <a:off x="1287264" y="1617505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>
            <a:extLst>
              <a:ext uri="{FF2B5EF4-FFF2-40B4-BE49-F238E27FC236}">
                <a16:creationId xmlns:a16="http://schemas.microsoft.com/office/drawing/2014/main" id="{C2CC8C22-72CD-336F-3908-AF7448DB4B59}"/>
              </a:ext>
            </a:extLst>
          </p:cNvPr>
          <p:cNvSpPr/>
          <p:nvPr/>
        </p:nvSpPr>
        <p:spPr>
          <a:xfrm>
            <a:off x="1782764" y="1617505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noProof="0" dirty="0"/>
          </a:p>
        </p:txBody>
      </p:sp>
      <p:sp>
        <p:nvSpPr>
          <p:cNvPr id="251" name="Google Shape;251;p3">
            <a:extLst>
              <a:ext uri="{FF2B5EF4-FFF2-40B4-BE49-F238E27FC236}">
                <a16:creationId xmlns:a16="http://schemas.microsoft.com/office/drawing/2014/main" id="{136D34E1-7084-33F9-70B7-B5C30708F387}"/>
              </a:ext>
            </a:extLst>
          </p:cNvPr>
          <p:cNvSpPr/>
          <p:nvPr/>
        </p:nvSpPr>
        <p:spPr>
          <a:xfrm>
            <a:off x="1287264" y="1617505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10E3C646-AAB3-67A6-93E2-D3C5DB44FDDA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D7B945F8-BE37-9E35-BA1B-42A4A40AF7AF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8F51ED74-9B90-F616-1BC6-A9F07205A07A}"/>
              </a:ext>
            </a:extLst>
          </p:cNvPr>
          <p:cNvSpPr/>
          <p:nvPr/>
        </p:nvSpPr>
        <p:spPr>
          <a:xfrm>
            <a:off x="1782764" y="3956033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EFD4666D-5BCD-DDA3-B05B-A322D1A7DB8B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52;p3">
            <a:extLst>
              <a:ext uri="{FF2B5EF4-FFF2-40B4-BE49-F238E27FC236}">
                <a16:creationId xmlns:a16="http://schemas.microsoft.com/office/drawing/2014/main" id="{5950B9CC-6188-F0F3-7F0E-9F7C6D6D1701}"/>
              </a:ext>
            </a:extLst>
          </p:cNvPr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3;p3">
            <a:extLst>
              <a:ext uri="{FF2B5EF4-FFF2-40B4-BE49-F238E27FC236}">
                <a16:creationId xmlns:a16="http://schemas.microsoft.com/office/drawing/2014/main" id="{FAE01374-0EBC-222F-EAE4-5112A309C659}"/>
              </a:ext>
            </a:extLst>
          </p:cNvPr>
          <p:cNvSpPr/>
          <p:nvPr/>
        </p:nvSpPr>
        <p:spPr>
          <a:xfrm>
            <a:off x="1782764" y="2786769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4;p3">
            <a:extLst>
              <a:ext uri="{FF2B5EF4-FFF2-40B4-BE49-F238E27FC236}">
                <a16:creationId xmlns:a16="http://schemas.microsoft.com/office/drawing/2014/main" id="{51DB91DB-1096-D7DD-F9F4-ABC54725AD76}"/>
              </a:ext>
            </a:extLst>
          </p:cNvPr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4387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AA21D91-B797-3F47-DAFD-743CB1D5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F6EECDF1-D72D-E8B2-0882-5C3BCA2D6903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dirty="0"/>
              <a:t>3</a:t>
            </a:r>
            <a:r>
              <a:rPr lang="en-US" dirty="0"/>
              <a:t>. Methodology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FF3D9F-2DE6-DDFE-ADB1-57EFE706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89" y="828577"/>
            <a:ext cx="6878320" cy="520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80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CA013F-0317-6F90-D000-9280DA576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9" y="792000"/>
            <a:ext cx="7755755" cy="2814799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C-MAPSS (Commercial Modular Aero-Propulsion System Simulation) dataset consists of time-series data representing the degradation and eventual failure of large commercial turbofan engines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set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set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 set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F3462-7963-2724-6A74-53AA97BA60F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Data </a:t>
            </a:r>
            <a:r>
              <a:rPr lang="pt-BR" dirty="0" err="1"/>
              <a:t>exploration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selection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A8052-308D-1388-9CD5-B481D3E9A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281" y="2171724"/>
            <a:ext cx="6091570" cy="376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4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4D9C06-E834-671F-EAF2-DD19E6A76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Removal of multiple operating conditions (FD002 and FD004) datasets from the scope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Removal of columns based lacking significant variation and in operational conditions criteria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BF62F-0A02-D406-8165-C494396322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Data </a:t>
            </a:r>
            <a:r>
              <a:rPr lang="pt-BR" dirty="0" err="1"/>
              <a:t>exploration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selection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51515-B722-059A-932F-CD7A8E724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75" y="2393990"/>
            <a:ext cx="7383948" cy="362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5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7E5D15-78A3-FF32-79B9-E783176D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9" y="792000"/>
            <a:ext cx="9133142" cy="52266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 calculation for training data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of moving average to sensors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normalization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calculation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Variance: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Skewness: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Mean Square: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96D70-60E7-6AEC-53CE-310D53B9FC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Data </a:t>
            </a:r>
            <a:r>
              <a:rPr lang="pt-BR" dirty="0" err="1"/>
              <a:t>preparation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056AAC-5BD7-3E15-B0C6-F7FE266FE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837" y="2619618"/>
            <a:ext cx="2915057" cy="1019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C69A72-5554-DBF2-9D20-FCBD36206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837" y="3718679"/>
            <a:ext cx="5153744" cy="9431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D5124D-68E2-8E8E-D733-4F7735B5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837" y="4762426"/>
            <a:ext cx="353426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4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137CEB-E8E7-2626-C312-E53E0F2C3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9" y="792000"/>
            <a:ext cx="9043200" cy="1847027"/>
          </a:xfrm>
        </p:spPr>
        <p:txBody>
          <a:bodyPr/>
          <a:lstStyle/>
          <a:p>
            <a:r>
              <a:rPr lang="en-US" dirty="0"/>
              <a:t>Definition of point P = start of degradation, based on the </a:t>
            </a:r>
            <a:r>
              <a:rPr lang="en-US" b="1" dirty="0"/>
              <a:t>baseline</a:t>
            </a:r>
            <a:r>
              <a:rPr lang="en-US" dirty="0"/>
              <a:t> period average and a tolerance range, the </a:t>
            </a:r>
            <a:r>
              <a:rPr lang="en-US" b="1" dirty="0"/>
              <a:t>threshold</a:t>
            </a:r>
          </a:p>
          <a:p>
            <a:r>
              <a:rPr lang="en-US" dirty="0"/>
              <a:t>P point for engine will be the earliest sensor’s P point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ABC91-2296-440F-4584-DB9A4BC630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Data </a:t>
            </a:r>
            <a:r>
              <a:rPr lang="pt-BR" dirty="0" err="1"/>
              <a:t>preparation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8BD1A8-835D-C1A2-9610-8B9651121558}"/>
              </a:ext>
            </a:extLst>
          </p:cNvPr>
          <p:cNvGrpSpPr/>
          <p:nvPr/>
        </p:nvGrpSpPr>
        <p:grpSpPr>
          <a:xfrm>
            <a:off x="1048093" y="2105499"/>
            <a:ext cx="7603438" cy="4161301"/>
            <a:chOff x="971602" y="1674378"/>
            <a:chExt cx="7775840" cy="42876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FC4AEE-3F6C-E257-419B-368E3A6CE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602" y="1982155"/>
              <a:ext cx="7775840" cy="397984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15D248-8853-E482-B8E9-6C24DAADDA60}"/>
                </a:ext>
              </a:extLst>
            </p:cNvPr>
            <p:cNvSpPr txBox="1"/>
            <p:nvPr/>
          </p:nvSpPr>
          <p:spPr>
            <a:xfrm>
              <a:off x="1675705" y="1674378"/>
              <a:ext cx="69381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EXAMPLE OF P POINT DETECTION IN LPT OUTLET TEMPERATURE SENSOR 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93657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D637F4-733F-9A51-7056-BBF2B0418CD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5-fold cross-validation, 80% for training and 20% for validation</a:t>
                </a:r>
              </a:p>
              <a:p>
                <a:r>
                  <a:rPr lang="en-US" dirty="0"/>
                  <a:t>Split by engine unit</a:t>
                </a:r>
              </a:p>
              <a:p>
                <a:r>
                  <a:rPr lang="en-US" dirty="0"/>
                  <a:t>Models tested: Random Forest, SVR, Gradient Boosting, </a:t>
                </a:r>
                <a:r>
                  <a:rPr lang="en-US" dirty="0" err="1"/>
                  <a:t>XGBoost</a:t>
                </a:r>
                <a:r>
                  <a:rPr lang="en-US" dirty="0"/>
                  <a:t>, </a:t>
                </a:r>
                <a:r>
                  <a:rPr lang="en-US" dirty="0" err="1"/>
                  <a:t>CatBoost</a:t>
                </a:r>
                <a:r>
                  <a:rPr lang="en-US" dirty="0"/>
                  <a:t>, </a:t>
                </a:r>
                <a:r>
                  <a:rPr lang="en-US" dirty="0" err="1"/>
                  <a:t>LightGBM</a:t>
                </a:r>
                <a:r>
                  <a:rPr lang="en-US" dirty="0"/>
                  <a:t>, and Ensemble (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𝐶𝑎𝑡𝐵𝑜𝑜𝑠𝑡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𝐿𝑖𝑔ℎ𝑡𝐺𝐵𝑀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).</a:t>
                </a:r>
              </a:p>
              <a:p>
                <a:pPr marL="6096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D637F4-733F-9A51-7056-BBF2B0418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07" t="-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14345-BF42-8008-EE4E-CA87A3E1910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Model training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evaluation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1D31C3-A18E-D36B-EEBF-E611D0E4E524}"/>
              </a:ext>
            </a:extLst>
          </p:cNvPr>
          <p:cNvGrpSpPr/>
          <p:nvPr/>
        </p:nvGrpSpPr>
        <p:grpSpPr>
          <a:xfrm>
            <a:off x="1974832" y="2540667"/>
            <a:ext cx="5749959" cy="3230213"/>
            <a:chOff x="1974832" y="2540667"/>
            <a:chExt cx="5749959" cy="323021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09C5994-9254-5D3B-4ECD-79D6FF283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4832" y="2673414"/>
              <a:ext cx="5749959" cy="3097466"/>
            </a:xfrm>
            <a:prstGeom prst="rect">
              <a:avLst/>
            </a:prstGeom>
          </p:spPr>
        </p:pic>
        <p:sp>
          <p:nvSpPr>
            <p:cNvPr id="15" name="Text Placeholder 1">
              <a:extLst>
                <a:ext uri="{FF2B5EF4-FFF2-40B4-BE49-F238E27FC236}">
                  <a16:creationId xmlns:a16="http://schemas.microsoft.com/office/drawing/2014/main" id="{62418DB3-C4B2-2644-7370-A6D46E029AAB}"/>
                </a:ext>
              </a:extLst>
            </p:cNvPr>
            <p:cNvSpPr txBox="1">
              <a:spLocks/>
            </p:cNvSpPr>
            <p:nvPr/>
          </p:nvSpPr>
          <p:spPr>
            <a:xfrm>
              <a:off x="6767996" y="2540667"/>
              <a:ext cx="430364" cy="499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9624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93278"/>
                </a:buClr>
                <a:buSzPts val="2640"/>
                <a:buFont typeface="Noto Sans Symbols"/>
                <a:buChar char="▪"/>
                <a:defRPr sz="2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292100" algn="l" rtl="0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93278"/>
                </a:buClr>
                <a:buSzPts val="1000"/>
                <a:buFont typeface="Noto Sans Symbols"/>
                <a:buChar char="❑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55600" algn="l" rtl="0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93278"/>
                </a:buClr>
                <a:buSzPts val="2000"/>
                <a:buFont typeface="Calibri"/>
                <a:buChar char="–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60960" indent="0">
                <a:buFont typeface="Noto Sans Symbols"/>
                <a:buNone/>
              </a:pPr>
              <a:r>
                <a:rPr lang="pt-BR" sz="2000" dirty="0"/>
                <a:t>*</a:t>
              </a:r>
              <a:endParaRPr lang="en-US" sz="2000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DAA7420-8F5E-CA1A-7186-76DF0714249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34949" y="5933440"/>
            <a:ext cx="7000571" cy="247816"/>
          </a:xfrm>
        </p:spPr>
        <p:txBody>
          <a:bodyPr/>
          <a:lstStyle/>
          <a:p>
            <a:r>
              <a:rPr lang="en-US" dirty="0"/>
              <a:t>* For each parameter combination, it was given a training 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2DAC65-B03B-DA3A-E612-0234BC31D3C9}"/>
              </a:ext>
            </a:extLst>
          </p:cNvPr>
          <p:cNvSpPr/>
          <p:nvPr/>
        </p:nvSpPr>
        <p:spPr>
          <a:xfrm>
            <a:off x="2036064" y="2724912"/>
            <a:ext cx="5658247" cy="315617"/>
          </a:xfrm>
          <a:prstGeom prst="rect">
            <a:avLst/>
          </a:prstGeom>
          <a:solidFill>
            <a:schemeClr val="accent1">
              <a:lumMod val="75000"/>
              <a:alpha val="141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4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0E1204-E454-C82B-6CF3-E0E697329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Metrics: Mean and standard deviation of RMSE and R²</a:t>
            </a:r>
          </a:p>
          <a:p>
            <a:endParaRPr lang="en-US" dirty="0"/>
          </a:p>
          <a:p>
            <a:pPr marL="6096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Score: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B1FAF-A9E6-EB51-9944-84068071705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Best model </a:t>
            </a:r>
            <a:r>
              <a:rPr lang="pt-BR" dirty="0" err="1"/>
              <a:t>selection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4F20DF-2664-8C3C-0F4A-776B40B51003}"/>
              </a:ext>
            </a:extLst>
          </p:cNvPr>
          <p:cNvGrpSpPr/>
          <p:nvPr/>
        </p:nvGrpSpPr>
        <p:grpSpPr>
          <a:xfrm>
            <a:off x="1856638" y="1229177"/>
            <a:ext cx="5986348" cy="1512905"/>
            <a:chOff x="1785411" y="1101855"/>
            <a:chExt cx="5986348" cy="15129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CE908C-DA20-F0FD-7A77-6F10AD625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5411" y="1360033"/>
              <a:ext cx="2738904" cy="9965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DF93FC-5912-9C99-0FC8-644AD08B6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7357" y="1101855"/>
              <a:ext cx="2434402" cy="1512905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41D910-5B25-22C9-9898-13A89C851CA7}"/>
              </a:ext>
            </a:extLst>
          </p:cNvPr>
          <p:cNvGrpSpPr/>
          <p:nvPr/>
        </p:nvGrpSpPr>
        <p:grpSpPr>
          <a:xfrm>
            <a:off x="740054" y="3618574"/>
            <a:ext cx="8219516" cy="755522"/>
            <a:chOff x="740054" y="4749202"/>
            <a:chExt cx="8219516" cy="75552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BCC58D0-FAC5-2C95-948E-0C2255521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8130" y="4749202"/>
              <a:ext cx="5916091" cy="487405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1D4D161-73AB-40DC-C951-3A7B81CD3D15}"/>
                </a:ext>
              </a:extLst>
            </p:cNvPr>
            <p:cNvGrpSpPr/>
            <p:nvPr/>
          </p:nvGrpSpPr>
          <p:grpSpPr>
            <a:xfrm>
              <a:off x="740054" y="5258902"/>
              <a:ext cx="8219516" cy="245822"/>
              <a:chOff x="1445384" y="5192064"/>
              <a:chExt cx="8219516" cy="24582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5E1921F-A6A1-EB22-D5C9-7338F7607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50000"/>
              <a:stretch>
                <a:fillRect/>
              </a:stretch>
            </p:blipFill>
            <p:spPr>
              <a:xfrm>
                <a:off x="1445384" y="5192064"/>
                <a:ext cx="6483275" cy="245822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3357F83-F0CF-37F8-8EFF-15BFFAD03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53048" r="73763" b="-3049"/>
              <a:stretch>
                <a:fillRect/>
              </a:stretch>
            </p:blipFill>
            <p:spPr>
              <a:xfrm>
                <a:off x="7963899" y="5192064"/>
                <a:ext cx="1701001" cy="24582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97587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7AD11D-72BB-0446-A5C5-A3C99C474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driver was to choose the same algorithm and training parameters for both </a:t>
            </a:r>
            <a:r>
              <a:rPr lang="en-US" dirty="0" err="1"/>
              <a:t>subdatasets</a:t>
            </a:r>
            <a:endParaRPr lang="en-US" dirty="0"/>
          </a:p>
          <a:p>
            <a:pPr lvl="1"/>
            <a:r>
              <a:rPr lang="en-US" dirty="0"/>
              <a:t>ID 15: FD001, window size 15 cycles, baseline size 15 cycles, threshold 0.5%</a:t>
            </a:r>
          </a:p>
          <a:p>
            <a:pPr lvl="1"/>
            <a:r>
              <a:rPr lang="en-US" dirty="0"/>
              <a:t>ID 18: FD003, window size 15 cycles, baseline size 15 cycles, threshold 0.5%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0372-7E59-9D25-30BD-9207F74FF5F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Best model </a:t>
            </a:r>
            <a:r>
              <a:rPr lang="pt-BR" dirty="0" err="1"/>
              <a:t>selection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C4C25-41FD-9E65-993F-75904B65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69" y="2365665"/>
            <a:ext cx="7192959" cy="37003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16023F-27F0-1312-A616-1E13FBA535F4}"/>
              </a:ext>
            </a:extLst>
          </p:cNvPr>
          <p:cNvSpPr/>
          <p:nvPr/>
        </p:nvSpPr>
        <p:spPr>
          <a:xfrm>
            <a:off x="1303020" y="2420112"/>
            <a:ext cx="7113270" cy="341376"/>
          </a:xfrm>
          <a:prstGeom prst="rect">
            <a:avLst/>
          </a:prstGeom>
          <a:solidFill>
            <a:schemeClr val="accent1">
              <a:lumMod val="75000"/>
              <a:alpha val="141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49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A649F-1AA2-C0B2-C922-580B271B1AC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Features </a:t>
            </a:r>
            <a:r>
              <a:rPr lang="pt-BR" dirty="0" err="1"/>
              <a:t>selection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8AD76-94E1-5F1C-963E-F40742BD1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13"/>
            <a:ext cx="9699625" cy="53949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EF03B52-1009-B06E-D413-41F234A1457C}"/>
              </a:ext>
            </a:extLst>
          </p:cNvPr>
          <p:cNvSpPr/>
          <p:nvPr/>
        </p:nvSpPr>
        <p:spPr>
          <a:xfrm>
            <a:off x="6805914" y="4699322"/>
            <a:ext cx="2893711" cy="14271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7C8B32-DD10-265D-EFB9-0A418C9ED10C}"/>
              </a:ext>
            </a:extLst>
          </p:cNvPr>
          <p:cNvGrpSpPr/>
          <p:nvPr/>
        </p:nvGrpSpPr>
        <p:grpSpPr>
          <a:xfrm>
            <a:off x="3805357" y="795055"/>
            <a:ext cx="5977964" cy="2611495"/>
            <a:chOff x="3805357" y="818205"/>
            <a:chExt cx="5977964" cy="26114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1F11A2-AA35-4F69-D750-ED6F2BBEC988}"/>
                </a:ext>
              </a:extLst>
            </p:cNvPr>
            <p:cNvGrpSpPr/>
            <p:nvPr/>
          </p:nvGrpSpPr>
          <p:grpSpPr>
            <a:xfrm>
              <a:off x="3805357" y="818205"/>
              <a:ext cx="5977964" cy="2611495"/>
              <a:chOff x="3721661" y="731513"/>
              <a:chExt cx="5977964" cy="261149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CC68EBB-A22E-83DC-9DD2-C309E93B0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1661" y="731513"/>
                <a:ext cx="5977964" cy="2470703"/>
              </a:xfrm>
              <a:prstGeom prst="rect">
                <a:avLst/>
              </a:prstGeom>
            </p:spPr>
          </p:pic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BA604F6-4F86-9B6E-8121-018533815B25}"/>
                  </a:ext>
                </a:extLst>
              </p:cNvPr>
              <p:cNvSpPr/>
              <p:nvPr/>
            </p:nvSpPr>
            <p:spPr>
              <a:xfrm>
                <a:off x="5023413" y="1412111"/>
                <a:ext cx="4580942" cy="1930897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C2CD17-809D-B26C-2A96-3F72E729334E}"/>
                </a:ext>
              </a:extLst>
            </p:cNvPr>
            <p:cNvSpPr txBox="1"/>
            <p:nvPr/>
          </p:nvSpPr>
          <p:spPr>
            <a:xfrm>
              <a:off x="6433503" y="1117430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FD003</a:t>
              </a:r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CE66EC5-3A4F-7CF1-0742-FBA181EF9417}"/>
              </a:ext>
            </a:extLst>
          </p:cNvPr>
          <p:cNvSpPr txBox="1"/>
          <p:nvPr/>
        </p:nvSpPr>
        <p:spPr>
          <a:xfrm>
            <a:off x="1769612" y="82788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FD001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3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07F3B3-B3A0-68A3-ADF4-EFD22CE0B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Training data re-split: 80% for training and 20% for calibration</a:t>
            </a:r>
          </a:p>
          <a:p>
            <a:pPr>
              <a:spcAft>
                <a:spcPts val="600"/>
              </a:spcAft>
            </a:pPr>
            <a:r>
              <a:rPr lang="en-US" dirty="0"/>
              <a:t>Error: Calibration RUL – Actual RUL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D8C7F-D65C-E0EC-8BD9-43488C0219A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Post-</a:t>
            </a:r>
            <a:r>
              <a:rPr lang="pt-BR" dirty="0" err="1"/>
              <a:t>processing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37F92B-2655-E508-A0DF-1D3D8CF37345}"/>
              </a:ext>
            </a:extLst>
          </p:cNvPr>
          <p:cNvGrpSpPr/>
          <p:nvPr/>
        </p:nvGrpSpPr>
        <p:grpSpPr>
          <a:xfrm>
            <a:off x="4984759" y="2254702"/>
            <a:ext cx="3935651" cy="3238660"/>
            <a:chOff x="5722970" y="1417720"/>
            <a:chExt cx="2824980" cy="26203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B46E8B-D80E-8444-5349-7472B305B66D}"/>
                </a:ext>
              </a:extLst>
            </p:cNvPr>
            <p:cNvGrpSpPr/>
            <p:nvPr/>
          </p:nvGrpSpPr>
          <p:grpSpPr>
            <a:xfrm>
              <a:off x="5722970" y="3487730"/>
              <a:ext cx="2824980" cy="550388"/>
              <a:chOff x="1442224" y="3761678"/>
              <a:chExt cx="2824980" cy="55038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5788378-ACC7-D46F-24D0-014EDB2CB2B9}"/>
                  </a:ext>
                </a:extLst>
              </p:cNvPr>
              <p:cNvSpPr/>
              <p:nvPr/>
            </p:nvSpPr>
            <p:spPr>
              <a:xfrm>
                <a:off x="1442224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78FBDFC-0207-B673-DB79-0D2D49765E6B}"/>
                  </a:ext>
                </a:extLst>
              </p:cNvPr>
              <p:cNvSpPr/>
              <p:nvPr/>
            </p:nvSpPr>
            <p:spPr>
              <a:xfrm>
                <a:off x="2007220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03FB655-53E4-E388-A603-BC8EB21EFA6C}"/>
                  </a:ext>
                </a:extLst>
              </p:cNvPr>
              <p:cNvSpPr/>
              <p:nvPr/>
            </p:nvSpPr>
            <p:spPr>
              <a:xfrm>
                <a:off x="2572216" y="3761939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B71C9F8-CCF3-C16B-B267-2923D2FF66DE}"/>
                  </a:ext>
                </a:extLst>
              </p:cNvPr>
              <p:cNvSpPr/>
              <p:nvPr/>
            </p:nvSpPr>
            <p:spPr>
              <a:xfrm>
                <a:off x="3137212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78F8CBC-6F83-5210-7007-9EF52AA8BF5C}"/>
                  </a:ext>
                </a:extLst>
              </p:cNvPr>
              <p:cNvSpPr/>
              <p:nvPr/>
            </p:nvSpPr>
            <p:spPr>
              <a:xfrm>
                <a:off x="3702208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39" name="Text Placeholder 2">
                <a:extLst>
                  <a:ext uri="{FF2B5EF4-FFF2-40B4-BE49-F238E27FC236}">
                    <a16:creationId xmlns:a16="http://schemas.microsoft.com/office/drawing/2014/main" id="{AAEB6EA5-991E-D451-0D4B-D1ED157398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7858" y="3878087"/>
                <a:ext cx="193728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-8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40" name="Text Placeholder 2">
                <a:extLst>
                  <a:ext uri="{FF2B5EF4-FFF2-40B4-BE49-F238E27FC236}">
                    <a16:creationId xmlns:a16="http://schemas.microsoft.com/office/drawing/2014/main" id="{23E2C681-4D47-6E2C-7F20-6560FF66B7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7389" y="3878087"/>
                <a:ext cx="193728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4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41" name="Text Placeholder 2">
                <a:extLst>
                  <a:ext uri="{FF2B5EF4-FFF2-40B4-BE49-F238E27FC236}">
                    <a16:creationId xmlns:a16="http://schemas.microsoft.com/office/drawing/2014/main" id="{07C0BAD2-F0DD-B0F4-0768-A88E42E74A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57850" y="3878086"/>
                <a:ext cx="193728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3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42" name="Text Placeholder 2">
                <a:extLst>
                  <a:ext uri="{FF2B5EF4-FFF2-40B4-BE49-F238E27FC236}">
                    <a16:creationId xmlns:a16="http://schemas.microsoft.com/office/drawing/2014/main" id="{1C8A51B9-F3FA-25D9-F938-98F62E9B2E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2846" y="3878085"/>
                <a:ext cx="193728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2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43" name="Text Placeholder 2">
                <a:extLst>
                  <a:ext uri="{FF2B5EF4-FFF2-40B4-BE49-F238E27FC236}">
                    <a16:creationId xmlns:a16="http://schemas.microsoft.com/office/drawing/2014/main" id="{BFBFB133-B54C-82A0-DEA6-D1A6F66234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7842" y="3878084"/>
                <a:ext cx="193728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</a:t>
                </a:r>
                <a:endParaRPr lang="en-US" dirty="0"/>
              </a:p>
              <a:p>
                <a:endParaRPr lang="en-US" dirty="0"/>
              </a:p>
            </p:txBody>
          </p:sp>
        </p:grpSp>
        <p:sp>
          <p:nvSpPr>
            <p:cNvPr id="7" name="Text Placeholder 2">
              <a:extLst>
                <a:ext uri="{FF2B5EF4-FFF2-40B4-BE49-F238E27FC236}">
                  <a16:creationId xmlns:a16="http://schemas.microsoft.com/office/drawing/2014/main" id="{25B036ED-DBC3-3DF2-DCA4-15E0A33B9F30}"/>
                </a:ext>
              </a:extLst>
            </p:cNvPr>
            <p:cNvSpPr txBox="1">
              <a:spLocks/>
            </p:cNvSpPr>
            <p:nvPr/>
          </p:nvSpPr>
          <p:spPr>
            <a:xfrm>
              <a:off x="6249755" y="3274200"/>
              <a:ext cx="1860686" cy="317307"/>
            </a:xfrm>
            <a:prstGeom prst="rect">
              <a:avLst/>
            </a:prstGeom>
          </p:spPr>
          <p:txBody>
            <a:bodyPr vert="horz" wrap="square" lIns="18000" tIns="18000" rIns="18000" bIns="18000" rtlCol="0">
              <a:noAutofit/>
            </a:bodyPr>
            <a:lstStyle>
              <a:lvl1pPr marL="0" marR="0" indent="0" algn="l" defTabSz="914377" rtl="0" eaLnBrk="1" latinLnBrk="0" hangingPunct="1">
                <a:lnSpc>
                  <a:spcPct val="12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1400" b="0" i="0" u="none" strike="noStrike" cap="none" spc="0" baseline="0">
                  <a:solidFill>
                    <a:schemeClr val="bg1">
                      <a:lumMod val="50000"/>
                    </a:schemeClr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2286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2pPr>
              <a:lvl3pPr marL="4572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3pPr>
              <a:lvl4pPr marL="6858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4pPr>
              <a:lvl5pPr marL="9144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5pPr>
              <a:lvl6pPr marL="13716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16002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18288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20574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>
                <a:spcAft>
                  <a:spcPts val="600"/>
                </a:spcAft>
                <a:buClr>
                  <a:srgbClr val="3333B2"/>
                </a:buClr>
              </a:pPr>
              <a:r>
                <a:rPr lang="en-US" dirty="0">
                  <a:solidFill>
                    <a:schemeClr val="accent3">
                      <a:lumMod val="10000"/>
                    </a:schemeClr>
                  </a:solidFill>
                </a:rPr>
                <a:t>Error</a:t>
              </a:r>
            </a:p>
            <a:p>
              <a:endParaRPr lang="en-US" dirty="0"/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CB2545D6-D372-506B-6350-D7B36E808D76}"/>
                </a:ext>
              </a:extLst>
            </p:cNvPr>
            <p:cNvSpPr txBox="1">
              <a:spLocks/>
            </p:cNvSpPr>
            <p:nvPr/>
          </p:nvSpPr>
          <p:spPr>
            <a:xfrm>
              <a:off x="6205117" y="2350346"/>
              <a:ext cx="1860686" cy="317307"/>
            </a:xfrm>
            <a:prstGeom prst="rect">
              <a:avLst/>
            </a:prstGeom>
          </p:spPr>
          <p:txBody>
            <a:bodyPr vert="horz" wrap="square" lIns="18000" tIns="18000" rIns="18000" bIns="18000" rtlCol="0">
              <a:noAutofit/>
            </a:bodyPr>
            <a:lstStyle>
              <a:lvl1pPr marL="0" marR="0" indent="0" algn="l" defTabSz="914377" rtl="0" eaLnBrk="1" latinLnBrk="0" hangingPunct="1">
                <a:lnSpc>
                  <a:spcPct val="12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1400" b="0" i="0" u="none" strike="noStrike" cap="none" spc="0" baseline="0">
                  <a:solidFill>
                    <a:schemeClr val="bg1">
                      <a:lumMod val="50000"/>
                    </a:schemeClr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2286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2pPr>
              <a:lvl3pPr marL="4572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3pPr>
              <a:lvl4pPr marL="6858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4pPr>
              <a:lvl5pPr marL="9144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5pPr>
              <a:lvl6pPr marL="13716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16002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18288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20574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>
                <a:spcAft>
                  <a:spcPts val="600"/>
                </a:spcAft>
                <a:buClr>
                  <a:srgbClr val="3333B2"/>
                </a:buClr>
              </a:pPr>
              <a:r>
                <a:rPr lang="en-US" dirty="0">
                  <a:solidFill>
                    <a:schemeClr val="accent3">
                      <a:lumMod val="10000"/>
                    </a:schemeClr>
                  </a:solidFill>
                </a:rPr>
                <a:t>Actual RUL</a:t>
              </a:r>
            </a:p>
            <a:p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6C55DB-1138-A149-7072-4B139FBE3C99}"/>
                </a:ext>
              </a:extLst>
            </p:cNvPr>
            <p:cNvGrpSpPr/>
            <p:nvPr/>
          </p:nvGrpSpPr>
          <p:grpSpPr>
            <a:xfrm>
              <a:off x="5722970" y="1620172"/>
              <a:ext cx="2824980" cy="550388"/>
              <a:chOff x="1442224" y="3761678"/>
              <a:chExt cx="2824980" cy="55038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2F8D32-24D4-4574-9352-880E47C5006E}"/>
                  </a:ext>
                </a:extLst>
              </p:cNvPr>
              <p:cNvSpPr/>
              <p:nvPr/>
            </p:nvSpPr>
            <p:spPr>
              <a:xfrm>
                <a:off x="1442224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CCC7844-1422-610C-50FF-215345CAD6C2}"/>
                  </a:ext>
                </a:extLst>
              </p:cNvPr>
              <p:cNvSpPr/>
              <p:nvPr/>
            </p:nvSpPr>
            <p:spPr>
              <a:xfrm>
                <a:off x="2007220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C01920-0A41-A8AE-0C3E-E4CB72D5C904}"/>
                  </a:ext>
                </a:extLst>
              </p:cNvPr>
              <p:cNvSpPr/>
              <p:nvPr/>
            </p:nvSpPr>
            <p:spPr>
              <a:xfrm>
                <a:off x="2572216" y="3761939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9B12771-8AC4-AD4C-5C60-773ED01BEF42}"/>
                  </a:ext>
                </a:extLst>
              </p:cNvPr>
              <p:cNvSpPr/>
              <p:nvPr/>
            </p:nvSpPr>
            <p:spPr>
              <a:xfrm>
                <a:off x="3137212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6622BDB-CAC8-F017-DA79-269D172A8F46}"/>
                  </a:ext>
                </a:extLst>
              </p:cNvPr>
              <p:cNvSpPr/>
              <p:nvPr/>
            </p:nvSpPr>
            <p:spPr>
              <a:xfrm>
                <a:off x="3702208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29" name="Text Placeholder 2">
                <a:extLst>
                  <a:ext uri="{FF2B5EF4-FFF2-40B4-BE49-F238E27FC236}">
                    <a16:creationId xmlns:a16="http://schemas.microsoft.com/office/drawing/2014/main" id="{D4FBC7AE-3C44-8452-585B-20781A232E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6465" y="3889929"/>
                <a:ext cx="29651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20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30" name="Text Placeholder 2">
                <a:extLst>
                  <a:ext uri="{FF2B5EF4-FFF2-40B4-BE49-F238E27FC236}">
                    <a16:creationId xmlns:a16="http://schemas.microsoft.com/office/drawing/2014/main" id="{FBF1F2A8-2B0B-2316-7EB9-246125189C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1148" y="3889929"/>
                <a:ext cx="276826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21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31" name="Text Placeholder 2">
                <a:extLst>
                  <a:ext uri="{FF2B5EF4-FFF2-40B4-BE49-F238E27FC236}">
                    <a16:creationId xmlns:a16="http://schemas.microsoft.com/office/drawing/2014/main" id="{AFB5D3AC-5180-85F0-3A5C-1E231F5F45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05320" y="3895243"/>
                <a:ext cx="29651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14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32" name="Text Placeholder 2">
                <a:extLst>
                  <a:ext uri="{FF2B5EF4-FFF2-40B4-BE49-F238E27FC236}">
                    <a16:creationId xmlns:a16="http://schemas.microsoft.com/office/drawing/2014/main" id="{8B6B4F64-B9DF-5D0A-9372-6C8D4718D0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2100" y="3883398"/>
                <a:ext cx="24398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10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33" name="Text Placeholder 2">
                <a:extLst>
                  <a:ext uri="{FF2B5EF4-FFF2-40B4-BE49-F238E27FC236}">
                    <a16:creationId xmlns:a16="http://schemas.microsoft.com/office/drawing/2014/main" id="{29813EF6-3226-0ACA-A847-8E9DCE804F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37587" y="3889929"/>
                <a:ext cx="292660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10</a:t>
                </a:r>
                <a:endParaRPr lang="en-US" dirty="0"/>
              </a:p>
              <a:p>
                <a:endParaRPr lang="en-US" dirty="0"/>
              </a:p>
            </p:txBody>
          </p:sp>
        </p:grpSp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2F61AF12-EA8F-A638-37BA-DAF10DCB58F1}"/>
                </a:ext>
              </a:extLst>
            </p:cNvPr>
            <p:cNvSpPr txBox="1">
              <a:spLocks/>
            </p:cNvSpPr>
            <p:nvPr/>
          </p:nvSpPr>
          <p:spPr>
            <a:xfrm>
              <a:off x="6205117" y="1417720"/>
              <a:ext cx="1860686" cy="317307"/>
            </a:xfrm>
            <a:prstGeom prst="rect">
              <a:avLst/>
            </a:prstGeom>
          </p:spPr>
          <p:txBody>
            <a:bodyPr vert="horz" wrap="square" lIns="18000" tIns="18000" rIns="18000" bIns="18000" rtlCol="0">
              <a:noAutofit/>
            </a:bodyPr>
            <a:lstStyle>
              <a:lvl1pPr marL="0" marR="0" indent="0" algn="l" defTabSz="914377" rtl="0" eaLnBrk="1" latinLnBrk="0" hangingPunct="1">
                <a:lnSpc>
                  <a:spcPct val="12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1400" b="0" i="0" u="none" strike="noStrike" cap="none" spc="0" baseline="0">
                  <a:solidFill>
                    <a:schemeClr val="bg1">
                      <a:lumMod val="50000"/>
                    </a:schemeClr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2286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2pPr>
              <a:lvl3pPr marL="4572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3pPr>
              <a:lvl4pPr marL="6858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4pPr>
              <a:lvl5pPr marL="914400" marR="0" indent="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None/>
                <a:tabLst/>
                <a:defRPr sz="3200" b="1" i="0" u="none" strike="noStrike" cap="none" spc="0" baseline="0">
                  <a:solidFill>
                    <a:srgbClr val="1437E4"/>
                  </a:solidFill>
                  <a:uFillTx/>
                  <a:latin typeface="+mj-lt"/>
                  <a:ea typeface="+mn-ea"/>
                  <a:cs typeface="+mn-cs"/>
                  <a:sym typeface="Helvetica Neue"/>
                </a:defRPr>
              </a:lvl5pPr>
              <a:lvl6pPr marL="13716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16002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18288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2057400" marR="0" indent="-228600" algn="l" defTabSz="914377" rtl="0" eaLnBrk="1" latinLnBrk="0" hangingPunct="1">
                <a:lnSpc>
                  <a:spcPct val="90000"/>
                </a:lnSpc>
                <a:spcBef>
                  <a:spcPts val="1688"/>
                </a:spcBef>
                <a:spcAft>
                  <a:spcPts val="0"/>
                </a:spcAft>
                <a:buClrTx/>
                <a:buSzPct val="123000"/>
                <a:buFontTx/>
                <a:buChar char="•"/>
                <a:tabLst/>
                <a:defRPr sz="18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>
                <a:spcAft>
                  <a:spcPts val="600"/>
                </a:spcAft>
                <a:buClr>
                  <a:srgbClr val="3333B2"/>
                </a:buClr>
              </a:pPr>
              <a:r>
                <a:rPr lang="en-US" dirty="0">
                  <a:solidFill>
                    <a:schemeClr val="accent3">
                      <a:lumMod val="10000"/>
                    </a:schemeClr>
                  </a:solidFill>
                </a:rPr>
                <a:t>Calibration RUL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7A31B8E-8941-40DD-E7FC-4F34EF8F7BD8}"/>
                </a:ext>
              </a:extLst>
            </p:cNvPr>
            <p:cNvGrpSpPr/>
            <p:nvPr/>
          </p:nvGrpSpPr>
          <p:grpSpPr>
            <a:xfrm>
              <a:off x="5722970" y="2553951"/>
              <a:ext cx="2824980" cy="550388"/>
              <a:chOff x="1442224" y="3761678"/>
              <a:chExt cx="2824980" cy="55038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43964E-A14F-EF21-9AC1-DCE1D0521E29}"/>
                  </a:ext>
                </a:extLst>
              </p:cNvPr>
              <p:cNvSpPr/>
              <p:nvPr/>
            </p:nvSpPr>
            <p:spPr>
              <a:xfrm>
                <a:off x="1442224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BF15985-9B6F-8079-8990-E07B2CCF5A2A}"/>
                  </a:ext>
                </a:extLst>
              </p:cNvPr>
              <p:cNvSpPr/>
              <p:nvPr/>
            </p:nvSpPr>
            <p:spPr>
              <a:xfrm>
                <a:off x="2007220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4D2F79C-123C-F66A-CEB0-5E212CA6C8E1}"/>
                  </a:ext>
                </a:extLst>
              </p:cNvPr>
              <p:cNvSpPr/>
              <p:nvPr/>
            </p:nvSpPr>
            <p:spPr>
              <a:xfrm>
                <a:off x="2572216" y="3761939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6DC7D1-6C18-81C3-B154-84EB85CA5FB4}"/>
                  </a:ext>
                </a:extLst>
              </p:cNvPr>
              <p:cNvSpPr/>
              <p:nvPr/>
            </p:nvSpPr>
            <p:spPr>
              <a:xfrm>
                <a:off x="3137212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FC8E846-65B0-F674-60F9-2E86777FA6B8}"/>
                  </a:ext>
                </a:extLst>
              </p:cNvPr>
              <p:cNvSpPr/>
              <p:nvPr/>
            </p:nvSpPr>
            <p:spPr>
              <a:xfrm>
                <a:off x="3702208" y="3761678"/>
                <a:ext cx="564996" cy="550127"/>
              </a:xfrm>
              <a:prstGeom prst="rect">
                <a:avLst/>
              </a:prstGeom>
              <a:noFill/>
              <a:ln w="127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19" name="Text Placeholder 2">
                <a:extLst>
                  <a:ext uri="{FF2B5EF4-FFF2-40B4-BE49-F238E27FC236}">
                    <a16:creationId xmlns:a16="http://schemas.microsoft.com/office/drawing/2014/main" id="{5A5A9869-157A-8DD0-EBCE-A8FF82BE2E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6465" y="3889929"/>
                <a:ext cx="29651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28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FACE9BC7-3D73-9130-8DE3-3C384E0833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1148" y="3889929"/>
                <a:ext cx="276826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17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21" name="Text Placeholder 2">
                <a:extLst>
                  <a:ext uri="{FF2B5EF4-FFF2-40B4-BE49-F238E27FC236}">
                    <a16:creationId xmlns:a16="http://schemas.microsoft.com/office/drawing/2014/main" id="{5D24930D-979C-E988-C5A4-79D97F070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05320" y="3895243"/>
                <a:ext cx="29651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11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22" name="Text Placeholder 2">
                <a:extLst>
                  <a:ext uri="{FF2B5EF4-FFF2-40B4-BE49-F238E27FC236}">
                    <a16:creationId xmlns:a16="http://schemas.microsoft.com/office/drawing/2014/main" id="{01AA8A2C-50F5-00A7-7E72-4F7FDF1CEE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2100" y="3883398"/>
                <a:ext cx="243983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8</a:t>
                </a:r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23" name="Text Placeholder 2">
                <a:extLst>
                  <a:ext uri="{FF2B5EF4-FFF2-40B4-BE49-F238E27FC236}">
                    <a16:creationId xmlns:a16="http://schemas.microsoft.com/office/drawing/2014/main" id="{8580A6AB-3573-42D7-13C7-BB6D9DC758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37587" y="3889929"/>
                <a:ext cx="292660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9</a:t>
                </a:r>
                <a:endParaRPr lang="en-US" dirty="0"/>
              </a:p>
              <a:p>
                <a:endParaRPr lang="en-US" dirty="0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973EDA-50A6-0EDE-92C8-3141CB887864}"/>
              </a:ext>
            </a:extLst>
          </p:cNvPr>
          <p:cNvGrpSpPr/>
          <p:nvPr/>
        </p:nvGrpSpPr>
        <p:grpSpPr>
          <a:xfrm>
            <a:off x="684387" y="3579417"/>
            <a:ext cx="3154229" cy="636856"/>
            <a:chOff x="1554791" y="3253451"/>
            <a:chExt cx="3154229" cy="636856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2A479E8-AE21-DAE2-38C8-109B4D4345E7}"/>
                </a:ext>
              </a:extLst>
            </p:cNvPr>
            <p:cNvSpPr/>
            <p:nvPr/>
          </p:nvSpPr>
          <p:spPr>
            <a:xfrm>
              <a:off x="1554791" y="3253451"/>
              <a:ext cx="3118161" cy="636856"/>
            </a:xfrm>
            <a:prstGeom prst="roundRect">
              <a:avLst/>
            </a:prstGeom>
            <a:solidFill>
              <a:srgbClr val="DAE9F6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AAA65C8-2A0D-2AC6-DFFC-9A064C195D1B}"/>
                </a:ext>
              </a:extLst>
            </p:cNvPr>
            <p:cNvSpPr txBox="1"/>
            <p:nvPr/>
          </p:nvSpPr>
          <p:spPr>
            <a:xfrm>
              <a:off x="1590859" y="3319168"/>
              <a:ext cx="31181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EXAMPLE OF THE METHOD </a:t>
              </a:r>
            </a:p>
            <a:p>
              <a:r>
                <a:rPr lang="pt-BR" b="1" dirty="0"/>
                <a:t>APPLIED IN A 5-POSITION ARRAY</a:t>
              </a:r>
              <a:endParaRPr lang="en-US" b="1" dirty="0"/>
            </a:p>
          </p:txBody>
        </p:sp>
      </p:grpSp>
      <p:sp>
        <p:nvSpPr>
          <p:cNvPr id="50" name="Left Brace 49">
            <a:extLst>
              <a:ext uri="{FF2B5EF4-FFF2-40B4-BE49-F238E27FC236}">
                <a16:creationId xmlns:a16="http://schemas.microsoft.com/office/drawing/2014/main" id="{444BBEAD-1CFF-3AC4-9DC5-9978DB8A1A7D}"/>
              </a:ext>
            </a:extLst>
          </p:cNvPr>
          <p:cNvSpPr/>
          <p:nvPr/>
        </p:nvSpPr>
        <p:spPr>
          <a:xfrm>
            <a:off x="3954336" y="2244232"/>
            <a:ext cx="602777" cy="33422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76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E051-654E-E199-6828-068355E5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61832-48B0-7C79-E026-5866A7022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RUL prediction for test data (unseen units until this stage).</a:t>
            </a:r>
          </a:p>
          <a:p>
            <a:pPr>
              <a:spcAft>
                <a:spcPts val="600"/>
              </a:spcAft>
            </a:pPr>
            <a:r>
              <a:rPr lang="en-US" dirty="0"/>
              <a:t>From the distribution of errors, quantiles from 60</a:t>
            </a:r>
            <a:r>
              <a:rPr lang="en-US" baseline="30000" dirty="0"/>
              <a:t>th</a:t>
            </a:r>
            <a:r>
              <a:rPr lang="en-US" dirty="0"/>
              <a:t> to 95</a:t>
            </a:r>
            <a:r>
              <a:rPr lang="en-US" baseline="30000" dirty="0"/>
              <a:t>th</a:t>
            </a:r>
            <a:r>
              <a:rPr lang="en-US" dirty="0"/>
              <a:t>, in increments of 5</a:t>
            </a:r>
            <a:r>
              <a:rPr lang="en-US" baseline="30000" dirty="0"/>
              <a:t>th</a:t>
            </a:r>
            <a:r>
              <a:rPr lang="en-US" dirty="0"/>
              <a:t>, were evaluated to define a health margin.</a:t>
            </a:r>
          </a:p>
          <a:p>
            <a:r>
              <a:rPr lang="en-US" dirty="0"/>
              <a:t>Negative values for health margin were clipped to zero.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D7E0F-BB55-B613-A3E5-9D943213A71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Post-</a:t>
            </a:r>
            <a:r>
              <a:rPr lang="pt-BR" dirty="0" err="1"/>
              <a:t>processing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E480BC-A098-C9F1-6570-F19D1BCAB3AD}"/>
              </a:ext>
            </a:extLst>
          </p:cNvPr>
          <p:cNvSpPr txBox="1"/>
          <p:nvPr/>
        </p:nvSpPr>
        <p:spPr>
          <a:xfrm>
            <a:off x="4406682" y="3895441"/>
            <a:ext cx="5292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3333B2"/>
              </a:buClr>
            </a:pPr>
            <a:r>
              <a:rPr lang="en-US" dirty="0"/>
              <a:t>Using</a:t>
            </a:r>
            <a:r>
              <a:rPr lang="en-US" sz="1400" dirty="0"/>
              <a:t> 75</a:t>
            </a:r>
            <a:r>
              <a:rPr lang="en-US" sz="1400" baseline="30000" dirty="0"/>
              <a:t>th</a:t>
            </a:r>
            <a:r>
              <a:rPr lang="en-US" sz="1400" dirty="0"/>
              <a:t> quantile on this </a:t>
            </a:r>
            <a:r>
              <a:rPr lang="en-US" dirty="0"/>
              <a:t>array</a:t>
            </a:r>
            <a:r>
              <a:rPr lang="en-US" sz="1400" dirty="0"/>
              <a:t>, the health margin selected is 3.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62B348E-1098-F888-86E5-771677DAAC9A}"/>
              </a:ext>
            </a:extLst>
          </p:cNvPr>
          <p:cNvGrpSpPr/>
          <p:nvPr/>
        </p:nvGrpSpPr>
        <p:grpSpPr>
          <a:xfrm>
            <a:off x="4869687" y="2899950"/>
            <a:ext cx="3935651" cy="977319"/>
            <a:chOff x="4849812" y="2845401"/>
            <a:chExt cx="3935651" cy="97731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98DF106-77F5-0325-A8A1-829171BDE6BD}"/>
                </a:ext>
              </a:extLst>
            </p:cNvPr>
            <p:cNvGrpSpPr/>
            <p:nvPr/>
          </p:nvGrpSpPr>
          <p:grpSpPr>
            <a:xfrm>
              <a:off x="4849812" y="2845401"/>
              <a:ext cx="3935651" cy="977319"/>
              <a:chOff x="1442224" y="3564037"/>
              <a:chExt cx="2824980" cy="748029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76720851-842C-6098-D20C-C894885150E7}"/>
                  </a:ext>
                </a:extLst>
              </p:cNvPr>
              <p:cNvGrpSpPr/>
              <p:nvPr/>
            </p:nvGrpSpPr>
            <p:grpSpPr>
              <a:xfrm>
                <a:off x="1442224" y="3761678"/>
                <a:ext cx="2824980" cy="550388"/>
                <a:chOff x="1442224" y="3761678"/>
                <a:chExt cx="2824980" cy="550388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E1758976-D091-5110-6CED-1F74C25B4CDD}"/>
                    </a:ext>
                  </a:extLst>
                </p:cNvPr>
                <p:cNvSpPr/>
                <p:nvPr/>
              </p:nvSpPr>
              <p:spPr>
                <a:xfrm>
                  <a:off x="1442224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804A317F-B3E5-D6A5-037C-69CDB8FA18D0}"/>
                    </a:ext>
                  </a:extLst>
                </p:cNvPr>
                <p:cNvSpPr/>
                <p:nvPr/>
              </p:nvSpPr>
              <p:spPr>
                <a:xfrm>
                  <a:off x="2007220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9345203D-66AE-B0AD-03F8-A01038AEDC77}"/>
                    </a:ext>
                  </a:extLst>
                </p:cNvPr>
                <p:cNvSpPr/>
                <p:nvPr/>
              </p:nvSpPr>
              <p:spPr>
                <a:xfrm>
                  <a:off x="2572216" y="3761939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B224B135-838D-1601-8EDE-BE0B5B5B9D77}"/>
                    </a:ext>
                  </a:extLst>
                </p:cNvPr>
                <p:cNvSpPr/>
                <p:nvPr/>
              </p:nvSpPr>
              <p:spPr>
                <a:xfrm>
                  <a:off x="3137212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DB7A53-C9B6-001E-CC14-10C99483492C}"/>
                    </a:ext>
                  </a:extLst>
                </p:cNvPr>
                <p:cNvSpPr/>
                <p:nvPr/>
              </p:nvSpPr>
              <p:spPr>
                <a:xfrm>
                  <a:off x="3702208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72" name="Text Placeholder 2">
                  <a:extLst>
                    <a:ext uri="{FF2B5EF4-FFF2-40B4-BE49-F238E27FC236}">
                      <a16:creationId xmlns:a16="http://schemas.microsoft.com/office/drawing/2014/main" id="{44AC7A71-67F5-9612-B8EC-E26EF34C46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27858" y="3878087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0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73" name="Text Placeholder 2">
                  <a:extLst>
                    <a:ext uri="{FF2B5EF4-FFF2-40B4-BE49-F238E27FC236}">
                      <a16:creationId xmlns:a16="http://schemas.microsoft.com/office/drawing/2014/main" id="{FB3BA6DF-B2A4-711E-3120-F453EA47FD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7389" y="3878087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1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74" name="Text Placeholder 2">
                  <a:extLst>
                    <a:ext uri="{FF2B5EF4-FFF2-40B4-BE49-F238E27FC236}">
                      <a16:creationId xmlns:a16="http://schemas.microsoft.com/office/drawing/2014/main" id="{2E2C7EA3-34DA-A607-13DB-56B9719435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57850" y="3878086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2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75" name="Text Placeholder 2">
                  <a:extLst>
                    <a:ext uri="{FF2B5EF4-FFF2-40B4-BE49-F238E27FC236}">
                      <a16:creationId xmlns:a16="http://schemas.microsoft.com/office/drawing/2014/main" id="{F1310277-BB0A-4FD1-2AE8-25DEFC6737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2846" y="3878085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3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76" name="Text Placeholder 2">
                  <a:extLst>
                    <a:ext uri="{FF2B5EF4-FFF2-40B4-BE49-F238E27FC236}">
                      <a16:creationId xmlns:a16="http://schemas.microsoft.com/office/drawing/2014/main" id="{FA671810-9792-0483-369B-03D0D5FFEE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87842" y="3878084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4</a:t>
                  </a:r>
                  <a:endParaRPr lang="en-US" dirty="0"/>
                </a:p>
                <a:p>
                  <a:endParaRPr lang="en-US" dirty="0"/>
                </a:p>
              </p:txBody>
            </p:sp>
          </p:grpSp>
          <p:sp>
            <p:nvSpPr>
              <p:cNvPr id="66" name="Text Placeholder 2">
                <a:extLst>
                  <a:ext uri="{FF2B5EF4-FFF2-40B4-BE49-F238E27FC236}">
                    <a16:creationId xmlns:a16="http://schemas.microsoft.com/office/drawing/2014/main" id="{641597A8-FD2C-A4A0-2609-FBE49E7A58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4371" y="3564037"/>
                <a:ext cx="1860686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Error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E1C22E7-B379-F297-A8CD-13FD439FAB19}"/>
                </a:ext>
              </a:extLst>
            </p:cNvPr>
            <p:cNvSpPr/>
            <p:nvPr/>
          </p:nvSpPr>
          <p:spPr>
            <a:xfrm>
              <a:off x="7213884" y="3103283"/>
              <a:ext cx="787130" cy="7187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4BEFA46-3246-F190-B560-034A7A625CAC}"/>
              </a:ext>
            </a:extLst>
          </p:cNvPr>
          <p:cNvGrpSpPr/>
          <p:nvPr/>
        </p:nvGrpSpPr>
        <p:grpSpPr>
          <a:xfrm>
            <a:off x="684387" y="3579417"/>
            <a:ext cx="3118161" cy="636856"/>
            <a:chOff x="1554791" y="3253451"/>
            <a:chExt cx="3118161" cy="636856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A4B98552-C6C6-E226-7842-387E206E814D}"/>
                </a:ext>
              </a:extLst>
            </p:cNvPr>
            <p:cNvSpPr/>
            <p:nvPr/>
          </p:nvSpPr>
          <p:spPr>
            <a:xfrm>
              <a:off x="1554791" y="3253451"/>
              <a:ext cx="3118161" cy="636856"/>
            </a:xfrm>
            <a:prstGeom prst="roundRect">
              <a:avLst/>
            </a:prstGeom>
            <a:solidFill>
              <a:srgbClr val="DAE9F6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23E5F6C-D859-5993-CB33-E1BA7C9413F8}"/>
                </a:ext>
              </a:extLst>
            </p:cNvPr>
            <p:cNvSpPr txBox="1"/>
            <p:nvPr/>
          </p:nvSpPr>
          <p:spPr>
            <a:xfrm>
              <a:off x="1590859" y="3319168"/>
              <a:ext cx="30476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EXAMPLES OF THE METHOD </a:t>
              </a:r>
            </a:p>
            <a:p>
              <a:r>
                <a:rPr lang="pt-BR" b="1" dirty="0"/>
                <a:t>APPLIED IN 5-POSITION ARRAYS</a:t>
              </a:r>
              <a:endParaRPr lang="en-US" b="1" dirty="0"/>
            </a:p>
          </p:txBody>
        </p:sp>
      </p:grpSp>
      <p:sp>
        <p:nvSpPr>
          <p:cNvPr id="86" name="Left Brace 85">
            <a:extLst>
              <a:ext uri="{FF2B5EF4-FFF2-40B4-BE49-F238E27FC236}">
                <a16:creationId xmlns:a16="http://schemas.microsoft.com/office/drawing/2014/main" id="{76F5553E-B211-DD7D-2F7B-3EB7F44DA42F}"/>
              </a:ext>
            </a:extLst>
          </p:cNvPr>
          <p:cNvSpPr/>
          <p:nvPr/>
        </p:nvSpPr>
        <p:spPr>
          <a:xfrm>
            <a:off x="3954337" y="2899950"/>
            <a:ext cx="555988" cy="2822669"/>
          </a:xfrm>
          <a:prstGeom prst="leftBrace">
            <a:avLst>
              <a:gd name="adj1" fmla="val 8333"/>
              <a:gd name="adj2" fmla="val 354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6773C05-E64B-EFAF-8F95-FC3DC9F45D40}"/>
              </a:ext>
            </a:extLst>
          </p:cNvPr>
          <p:cNvSpPr txBox="1"/>
          <p:nvPr/>
        </p:nvSpPr>
        <p:spPr>
          <a:xfrm>
            <a:off x="4382322" y="5296876"/>
            <a:ext cx="5292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3333B2"/>
              </a:buClr>
            </a:pPr>
            <a:r>
              <a:rPr lang="en-US" dirty="0"/>
              <a:t>Using</a:t>
            </a:r>
            <a:r>
              <a:rPr lang="en-US" sz="1400" dirty="0"/>
              <a:t> 75</a:t>
            </a:r>
            <a:r>
              <a:rPr lang="en-US" sz="1400" baseline="30000" dirty="0"/>
              <a:t>th</a:t>
            </a:r>
            <a:r>
              <a:rPr lang="en-US" sz="1400" dirty="0"/>
              <a:t> quantile on this </a:t>
            </a:r>
            <a:r>
              <a:rPr lang="en-US" dirty="0"/>
              <a:t>array</a:t>
            </a:r>
            <a:r>
              <a:rPr lang="en-US" sz="1400" dirty="0"/>
              <a:t>, the health margin selected is 0.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D385878-2D55-3C8C-C092-D22C96E53DE3}"/>
              </a:ext>
            </a:extLst>
          </p:cNvPr>
          <p:cNvGrpSpPr/>
          <p:nvPr/>
        </p:nvGrpSpPr>
        <p:grpSpPr>
          <a:xfrm>
            <a:off x="4845327" y="4301385"/>
            <a:ext cx="3935651" cy="977319"/>
            <a:chOff x="4849812" y="2845401"/>
            <a:chExt cx="3935651" cy="977319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9B87600-7E13-2A50-EE0B-5A0A2FCC2D08}"/>
                </a:ext>
              </a:extLst>
            </p:cNvPr>
            <p:cNvGrpSpPr/>
            <p:nvPr/>
          </p:nvGrpSpPr>
          <p:grpSpPr>
            <a:xfrm>
              <a:off x="4849812" y="2845401"/>
              <a:ext cx="3935651" cy="977319"/>
              <a:chOff x="1442224" y="3564037"/>
              <a:chExt cx="2824980" cy="748029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CBA39D3F-0E8E-D97E-733C-5439DEAC5580}"/>
                  </a:ext>
                </a:extLst>
              </p:cNvPr>
              <p:cNvGrpSpPr/>
              <p:nvPr/>
            </p:nvGrpSpPr>
            <p:grpSpPr>
              <a:xfrm>
                <a:off x="1442224" y="3761678"/>
                <a:ext cx="2824980" cy="550388"/>
                <a:chOff x="1442224" y="3761678"/>
                <a:chExt cx="2824980" cy="550388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1981DDD-5D26-F984-2DCC-284BA24F6A05}"/>
                    </a:ext>
                  </a:extLst>
                </p:cNvPr>
                <p:cNvSpPr/>
                <p:nvPr/>
              </p:nvSpPr>
              <p:spPr>
                <a:xfrm>
                  <a:off x="1442224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ED7931ED-FD93-D5AC-B9A2-91A063D41783}"/>
                    </a:ext>
                  </a:extLst>
                </p:cNvPr>
                <p:cNvSpPr/>
                <p:nvPr/>
              </p:nvSpPr>
              <p:spPr>
                <a:xfrm>
                  <a:off x="2007220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2F5C406-B272-E943-FA1E-56E4E544138C}"/>
                    </a:ext>
                  </a:extLst>
                </p:cNvPr>
                <p:cNvSpPr/>
                <p:nvPr/>
              </p:nvSpPr>
              <p:spPr>
                <a:xfrm>
                  <a:off x="2572216" y="3761939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7762A76E-CFA5-F014-6A1E-595A6F5DB893}"/>
                    </a:ext>
                  </a:extLst>
                </p:cNvPr>
                <p:cNvSpPr/>
                <p:nvPr/>
              </p:nvSpPr>
              <p:spPr>
                <a:xfrm>
                  <a:off x="3137212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96D2BDE-5781-FA87-A2F6-A58C4662C766}"/>
                    </a:ext>
                  </a:extLst>
                </p:cNvPr>
                <p:cNvSpPr/>
                <p:nvPr/>
              </p:nvSpPr>
              <p:spPr>
                <a:xfrm>
                  <a:off x="3702208" y="3761678"/>
                  <a:ext cx="564996" cy="550127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endParaRPr>
                </a:p>
              </p:txBody>
            </p:sp>
            <p:sp>
              <p:nvSpPr>
                <p:cNvPr id="100" name="Text Placeholder 2">
                  <a:extLst>
                    <a:ext uri="{FF2B5EF4-FFF2-40B4-BE49-F238E27FC236}">
                      <a16:creationId xmlns:a16="http://schemas.microsoft.com/office/drawing/2014/main" id="{14E82CF1-305D-0212-A512-71CF1C0EF3B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27858" y="3878087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-4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101" name="Text Placeholder 2">
                  <a:extLst>
                    <a:ext uri="{FF2B5EF4-FFF2-40B4-BE49-F238E27FC236}">
                      <a16:creationId xmlns:a16="http://schemas.microsoft.com/office/drawing/2014/main" id="{0EB596BC-A109-E9E6-ECD2-E3440A6ED2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7389" y="3878087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-3</a:t>
                  </a:r>
                  <a:endParaRPr lang="en-US" dirty="0"/>
                </a:p>
              </p:txBody>
            </p:sp>
            <p:sp>
              <p:nvSpPr>
                <p:cNvPr id="102" name="Text Placeholder 2">
                  <a:extLst>
                    <a:ext uri="{FF2B5EF4-FFF2-40B4-BE49-F238E27FC236}">
                      <a16:creationId xmlns:a16="http://schemas.microsoft.com/office/drawing/2014/main" id="{FF891830-355D-CCF1-2FF2-A9E9D4B4F3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57850" y="3878086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-2</a:t>
                  </a:r>
                </a:p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Text Placeholder 2">
                  <a:extLst>
                    <a:ext uri="{FF2B5EF4-FFF2-40B4-BE49-F238E27FC236}">
                      <a16:creationId xmlns:a16="http://schemas.microsoft.com/office/drawing/2014/main" id="{989C0254-F932-38B4-E210-7EFBA7E9B50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2846" y="3878085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-1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104" name="Text Placeholder 2">
                  <a:extLst>
                    <a:ext uri="{FF2B5EF4-FFF2-40B4-BE49-F238E27FC236}">
                      <a16:creationId xmlns:a16="http://schemas.microsoft.com/office/drawing/2014/main" id="{1463E878-B725-7420-771B-D82CB029D0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87842" y="3878084"/>
                  <a:ext cx="193728" cy="317307"/>
                </a:xfrm>
                <a:prstGeom prst="rect">
                  <a:avLst/>
                </a:prstGeom>
              </p:spPr>
              <p:txBody>
                <a:bodyPr vert="horz" wrap="square" lIns="18000" tIns="18000" rIns="18000" bIns="18000" rtlCol="0">
                  <a:noAutofit/>
                </a:bodyPr>
                <a:lstStyle>
                  <a:lvl1pPr marL="0" marR="0" indent="0" algn="l" defTabSz="914377" rtl="0" eaLnBrk="1" latinLnBrk="0" hangingPunct="1">
                    <a:lnSpc>
                      <a:spcPct val="12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1400" b="0" i="0" u="none" strike="noStrike" cap="none" spc="0" baseline="0">
                      <a:solidFill>
                        <a:schemeClr val="bg1">
                          <a:lumMod val="50000"/>
                        </a:schemeClr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2286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2pPr>
                  <a:lvl3pPr marL="4572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3pPr>
                  <a:lvl4pPr marL="6858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4pPr>
                  <a:lvl5pPr marL="914400" marR="0" indent="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None/>
                    <a:tabLst/>
                    <a:defRPr sz="3200" b="1" i="0" u="none" strike="noStrike" cap="none" spc="0" baseline="0">
                      <a:solidFill>
                        <a:srgbClr val="1437E4"/>
                      </a:solidFill>
                      <a:uFillTx/>
                      <a:latin typeface="+mj-lt"/>
                      <a:ea typeface="+mn-ea"/>
                      <a:cs typeface="+mn-cs"/>
                      <a:sym typeface="Helvetica Neue"/>
                    </a:defRPr>
                  </a:lvl5pPr>
                  <a:lvl6pPr marL="13716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16002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18288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2057400" marR="0" indent="-228600" algn="l" defTabSz="914377" rtl="0" eaLnBrk="1" latinLnBrk="0" hangingPunct="1">
                    <a:lnSpc>
                      <a:spcPct val="90000"/>
                    </a:lnSpc>
                    <a:spcBef>
                      <a:spcPts val="1688"/>
                    </a:spcBef>
                    <a:spcAft>
                      <a:spcPts val="0"/>
                    </a:spcAft>
                    <a:buClrTx/>
                    <a:buSzPct val="123000"/>
                    <a:buFontTx/>
                    <a:buChar char="•"/>
                    <a:tabLst/>
                    <a:defRPr sz="18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>
                    <a:spcAft>
                      <a:spcPts val="600"/>
                    </a:spcAft>
                    <a:buClr>
                      <a:srgbClr val="3333B2"/>
                    </a:buClr>
                  </a:pPr>
                  <a:r>
                    <a:rPr lang="en-US" dirty="0">
                      <a:solidFill>
                        <a:schemeClr val="accent3">
                          <a:lumMod val="10000"/>
                        </a:schemeClr>
                      </a:solidFill>
                    </a:rPr>
                    <a:t>0</a:t>
                  </a:r>
                  <a:endParaRPr lang="en-US" dirty="0"/>
                </a:p>
                <a:p>
                  <a:endParaRPr lang="en-US" dirty="0"/>
                </a:p>
              </p:txBody>
            </p:sp>
          </p:grpSp>
          <p:sp>
            <p:nvSpPr>
              <p:cNvPr id="94" name="Text Placeholder 2">
                <a:extLst>
                  <a:ext uri="{FF2B5EF4-FFF2-40B4-BE49-F238E27FC236}">
                    <a16:creationId xmlns:a16="http://schemas.microsoft.com/office/drawing/2014/main" id="{889ED57D-ECF6-EA4F-0DE3-1C8BDC886F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4371" y="3564037"/>
                <a:ext cx="1860686" cy="317307"/>
              </a:xfrm>
              <a:prstGeom prst="rect">
                <a:avLst/>
              </a:prstGeom>
            </p:spPr>
            <p:txBody>
              <a:bodyPr vert="horz" wrap="square" lIns="18000" tIns="18000" rIns="18000" bIns="18000" rtlCol="0">
                <a:noAutofit/>
              </a:bodyPr>
              <a:lstStyle>
                <a:lvl1pPr marL="0" marR="0" indent="0" algn="l" defTabSz="914377" rtl="0" eaLnBrk="1" latinLnBrk="0" hangingPunct="1">
                  <a:lnSpc>
                    <a:spcPct val="12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1400" b="0" i="0" u="none" strike="noStrike" cap="none" spc="0" baseline="0">
                    <a:solidFill>
                      <a:schemeClr val="bg1">
                        <a:lumMod val="50000"/>
                      </a:schemeClr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2286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2pPr>
                <a:lvl3pPr marL="4572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3pPr>
                <a:lvl4pPr marL="6858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4pPr>
                <a:lvl5pPr marL="914400" marR="0" indent="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3200" b="1" i="0" u="none" strike="noStrike" cap="none" spc="0" baseline="0">
                    <a:solidFill>
                      <a:srgbClr val="1437E4"/>
                    </a:solidFill>
                    <a:uFillTx/>
                    <a:latin typeface="+mj-lt"/>
                    <a:ea typeface="+mn-ea"/>
                    <a:cs typeface="+mn-cs"/>
                    <a:sym typeface="Helvetica Neue"/>
                  </a:defRPr>
                </a:lvl5pPr>
                <a:lvl6pPr marL="13716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6002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18288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057400" marR="0" indent="-228600" algn="l" defTabSz="914377" rtl="0" eaLnBrk="1" latinLnBrk="0" hangingPunct="1">
                  <a:lnSpc>
                    <a:spcPct val="90000"/>
                  </a:lnSpc>
                  <a:spcBef>
                    <a:spcPts val="1688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1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>
                  <a:spcAft>
                    <a:spcPts val="600"/>
                  </a:spcAft>
                  <a:buClr>
                    <a:srgbClr val="3333B2"/>
                  </a:buClr>
                </a:pPr>
                <a:r>
                  <a:rPr lang="en-US" dirty="0">
                    <a:solidFill>
                      <a:schemeClr val="accent3">
                        <a:lumMod val="10000"/>
                      </a:schemeClr>
                    </a:solidFill>
                  </a:rPr>
                  <a:t>Error</a:t>
                </a: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3A50E25-98A2-55EA-E725-0A1259FA3344}"/>
                </a:ext>
              </a:extLst>
            </p:cNvPr>
            <p:cNvSpPr/>
            <p:nvPr/>
          </p:nvSpPr>
          <p:spPr>
            <a:xfrm>
              <a:off x="7211202" y="3102451"/>
              <a:ext cx="787130" cy="7187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6F61653-CDE2-E186-1B41-DF56E2C5F125}"/>
              </a:ext>
            </a:extLst>
          </p:cNvPr>
          <p:cNvCxnSpPr>
            <a:cxnSpLocks/>
          </p:cNvCxnSpPr>
          <p:nvPr/>
        </p:nvCxnSpPr>
        <p:spPr>
          <a:xfrm flipV="1">
            <a:off x="7292197" y="4346093"/>
            <a:ext cx="932495" cy="7806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20C449D-9141-2B4E-7B9C-E66394C415EF}"/>
              </a:ext>
            </a:extLst>
          </p:cNvPr>
          <p:cNvSpPr txBox="1"/>
          <p:nvPr/>
        </p:nvSpPr>
        <p:spPr>
          <a:xfrm>
            <a:off x="8168145" y="418651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72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FDB8F3-873E-8535-68EC-47CA2C4F0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Subtract health margin and ensure final RUL ≥ 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F6864-8077-740E-B3D8-DD0826B77F2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Post-processing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0E143-7EFE-AC9A-1AF2-C965C3C054FA}"/>
                  </a:ext>
                </a:extLst>
              </p:cNvPr>
              <p:cNvSpPr txBox="1"/>
              <p:nvPr/>
            </p:nvSpPr>
            <p:spPr>
              <a:xfrm>
                <a:off x="1517937" y="1542115"/>
                <a:ext cx="6831242" cy="3899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RUL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𝑠𝑎𝑓𝑒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𝑅𝑈𝐿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𝑝𝑟𝑒𝑑𝑖𝑐𝑡𝑒𝑑</m:t>
                              </m:r>
                            </m:sub>
                          </m:s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ℎ𝑒</m:t>
                          </m:r>
                          <m:r>
                            <m:rPr>
                              <m:sty m:val="p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𝑙𝑡ℎ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𝑚𝑎𝑟𝑔𝑖𝑛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0E143-7EFE-AC9A-1AF2-C965C3C05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37" y="1542115"/>
                <a:ext cx="6831242" cy="389915"/>
              </a:xfrm>
              <a:prstGeom prst="rect">
                <a:avLst/>
              </a:prstGeom>
              <a:blipFill>
                <a:blip r:embed="rId2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95AD5F75-F9E5-3979-D0F2-AF5F52F4F2C0}"/>
              </a:ext>
            </a:extLst>
          </p:cNvPr>
          <p:cNvGrpSpPr/>
          <p:nvPr/>
        </p:nvGrpSpPr>
        <p:grpSpPr>
          <a:xfrm>
            <a:off x="728662" y="2346791"/>
            <a:ext cx="8242300" cy="2752727"/>
            <a:chOff x="728662" y="2346791"/>
            <a:chExt cx="8242300" cy="275272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42BB5F-A52B-6DC0-E95F-E30BB55AA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662" y="2346791"/>
              <a:ext cx="8242300" cy="275272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CA1-F93E-35EF-7EC3-65D4FA443B88}"/>
                </a:ext>
              </a:extLst>
            </p:cNvPr>
            <p:cNvSpPr/>
            <p:nvPr/>
          </p:nvSpPr>
          <p:spPr>
            <a:xfrm>
              <a:off x="743902" y="2387600"/>
              <a:ext cx="8171498" cy="901700"/>
            </a:xfrm>
            <a:prstGeom prst="rect">
              <a:avLst/>
            </a:prstGeom>
            <a:solidFill>
              <a:schemeClr val="accent1">
                <a:lumMod val="75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193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366325DB-32A9-DCA0-ADC6-149A1454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>
            <a:extLst>
              <a:ext uri="{FF2B5EF4-FFF2-40B4-BE49-F238E27FC236}">
                <a16:creationId xmlns:a16="http://schemas.microsoft.com/office/drawing/2014/main" id="{B75A91AC-E54B-E525-0D48-2623EF349308}"/>
              </a:ext>
            </a:extLst>
          </p:cNvPr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>
            <a:extLst>
              <a:ext uri="{FF2B5EF4-FFF2-40B4-BE49-F238E27FC236}">
                <a16:creationId xmlns:a16="http://schemas.microsoft.com/office/drawing/2014/main" id="{3329BB00-0158-2BFF-8EBC-F0F8DB704A34}"/>
              </a:ext>
            </a:extLst>
          </p:cNvPr>
          <p:cNvSpPr/>
          <p:nvPr/>
        </p:nvSpPr>
        <p:spPr>
          <a:xfrm>
            <a:off x="1782764" y="2786769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2400" dirty="0"/>
          </a:p>
        </p:txBody>
      </p:sp>
      <p:sp>
        <p:nvSpPr>
          <p:cNvPr id="245" name="Google Shape;245;p3">
            <a:extLst>
              <a:ext uri="{FF2B5EF4-FFF2-40B4-BE49-F238E27FC236}">
                <a16:creationId xmlns:a16="http://schemas.microsoft.com/office/drawing/2014/main" id="{B78DB2B5-D260-D1B9-027B-0F467961C33A}"/>
              </a:ext>
            </a:extLst>
          </p:cNvPr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>
            <a:extLst>
              <a:ext uri="{FF2B5EF4-FFF2-40B4-BE49-F238E27FC236}">
                <a16:creationId xmlns:a16="http://schemas.microsoft.com/office/drawing/2014/main" id="{86A9CEDB-F2E7-43B2-3874-9D4F187C1ABC}"/>
              </a:ext>
            </a:extLst>
          </p:cNvPr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>
            <a:extLst>
              <a:ext uri="{FF2B5EF4-FFF2-40B4-BE49-F238E27FC236}">
                <a16:creationId xmlns:a16="http://schemas.microsoft.com/office/drawing/2014/main" id="{D4C08551-F695-5E11-7822-20DC7E62DEA1}"/>
              </a:ext>
            </a:extLst>
          </p:cNvPr>
          <p:cNvSpPr/>
          <p:nvPr/>
        </p:nvSpPr>
        <p:spPr>
          <a:xfrm>
            <a:off x="1782764" y="2202137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sz="2400" dirty="0"/>
          </a:p>
        </p:txBody>
      </p:sp>
      <p:sp>
        <p:nvSpPr>
          <p:cNvPr id="248" name="Google Shape;248;p3">
            <a:extLst>
              <a:ext uri="{FF2B5EF4-FFF2-40B4-BE49-F238E27FC236}">
                <a16:creationId xmlns:a16="http://schemas.microsoft.com/office/drawing/2014/main" id="{F6563C08-95A3-87FC-596A-BEC965941BCD}"/>
              </a:ext>
            </a:extLst>
          </p:cNvPr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>
            <a:extLst>
              <a:ext uri="{FF2B5EF4-FFF2-40B4-BE49-F238E27FC236}">
                <a16:creationId xmlns:a16="http://schemas.microsoft.com/office/drawing/2014/main" id="{90DE51D4-6C9E-2CFE-B8BD-425030448DFB}"/>
              </a:ext>
            </a:extLst>
          </p:cNvPr>
          <p:cNvSpPr/>
          <p:nvPr/>
        </p:nvSpPr>
        <p:spPr>
          <a:xfrm>
            <a:off x="1287264" y="1617505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>
            <a:extLst>
              <a:ext uri="{FF2B5EF4-FFF2-40B4-BE49-F238E27FC236}">
                <a16:creationId xmlns:a16="http://schemas.microsoft.com/office/drawing/2014/main" id="{17892ABA-049B-4D3C-5CF1-47191B1ADE6B}"/>
              </a:ext>
            </a:extLst>
          </p:cNvPr>
          <p:cNvSpPr/>
          <p:nvPr/>
        </p:nvSpPr>
        <p:spPr>
          <a:xfrm>
            <a:off x="1782764" y="1617505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noProof="0" dirty="0"/>
          </a:p>
        </p:txBody>
      </p:sp>
      <p:sp>
        <p:nvSpPr>
          <p:cNvPr id="251" name="Google Shape;251;p3">
            <a:extLst>
              <a:ext uri="{FF2B5EF4-FFF2-40B4-BE49-F238E27FC236}">
                <a16:creationId xmlns:a16="http://schemas.microsoft.com/office/drawing/2014/main" id="{1E9B8604-BA95-7413-4128-D67D82418E7F}"/>
              </a:ext>
            </a:extLst>
          </p:cNvPr>
          <p:cNvSpPr/>
          <p:nvPr/>
        </p:nvSpPr>
        <p:spPr>
          <a:xfrm>
            <a:off x="1287264" y="1617505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07E89356-20E1-D25B-CEC2-E0C81BF2A66C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34711F88-387E-E885-8BF5-61F044204658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51B6C76B-29ED-094F-C2DD-198321C7B9BB}"/>
              </a:ext>
            </a:extLst>
          </p:cNvPr>
          <p:cNvSpPr/>
          <p:nvPr/>
        </p:nvSpPr>
        <p:spPr>
          <a:xfrm>
            <a:off x="1782764" y="3956033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F69C01E2-3E55-AAA4-76CC-9F9EFDF8334E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52;p3">
            <a:extLst>
              <a:ext uri="{FF2B5EF4-FFF2-40B4-BE49-F238E27FC236}">
                <a16:creationId xmlns:a16="http://schemas.microsoft.com/office/drawing/2014/main" id="{71BA6302-438E-E518-621C-C4E1A243C282}"/>
              </a:ext>
            </a:extLst>
          </p:cNvPr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3;p3">
            <a:extLst>
              <a:ext uri="{FF2B5EF4-FFF2-40B4-BE49-F238E27FC236}">
                <a16:creationId xmlns:a16="http://schemas.microsoft.com/office/drawing/2014/main" id="{CCCC23F3-922D-E5E0-F5C0-58B5F2E1AD96}"/>
              </a:ext>
            </a:extLst>
          </p:cNvPr>
          <p:cNvSpPr/>
          <p:nvPr/>
        </p:nvSpPr>
        <p:spPr>
          <a:xfrm>
            <a:off x="1782763" y="3371401"/>
            <a:ext cx="2765173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4;p3">
            <a:extLst>
              <a:ext uri="{FF2B5EF4-FFF2-40B4-BE49-F238E27FC236}">
                <a16:creationId xmlns:a16="http://schemas.microsoft.com/office/drawing/2014/main" id="{EB0474B5-2884-0349-112F-7D0C137A2AE4}"/>
              </a:ext>
            </a:extLst>
          </p:cNvPr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9895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DEFEA0C-F121-676A-0A91-F4F30954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40DA6-3E45-19F7-C13F-31C084BC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9" y="1294965"/>
            <a:ext cx="9043200" cy="4903396"/>
          </a:xfrm>
          <a:prstGeom prst="rect">
            <a:avLst/>
          </a:prstGeom>
        </p:spPr>
      </p:pic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6A232AE5-1E7E-EB29-724E-2AF8372E6AF6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Explainability of the Models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24219-F849-AEB8-52ED-E5529379E275}"/>
              </a:ext>
            </a:extLst>
          </p:cNvPr>
          <p:cNvSpPr txBox="1"/>
          <p:nvPr/>
        </p:nvSpPr>
        <p:spPr>
          <a:xfrm>
            <a:off x="404179" y="724019"/>
            <a:ext cx="9009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EXPLAINABILITY OF CATBOOST INTO ONE OPERATING CONDITION AND ONE DEGRADATION MODE </a:t>
            </a:r>
          </a:p>
          <a:p>
            <a:pPr algn="ctr"/>
            <a:r>
              <a:rPr lang="pt-BR" b="1" dirty="0"/>
              <a:t>(FD001) </a:t>
            </a:r>
            <a:endParaRPr lang="en-US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6C8CC3-7639-F322-A619-18ED5C33B6C6}"/>
              </a:ext>
            </a:extLst>
          </p:cNvPr>
          <p:cNvSpPr/>
          <p:nvPr/>
        </p:nvSpPr>
        <p:spPr>
          <a:xfrm rot="19003579">
            <a:off x="298728" y="5721805"/>
            <a:ext cx="518491" cy="13930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37656A-82EA-8390-F38F-BDAA8A6C0DD8}"/>
              </a:ext>
            </a:extLst>
          </p:cNvPr>
          <p:cNvSpPr/>
          <p:nvPr/>
        </p:nvSpPr>
        <p:spPr>
          <a:xfrm rot="19003579">
            <a:off x="374086" y="5812158"/>
            <a:ext cx="646856" cy="16878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63224F-06DF-7263-4B7A-161B09214503}"/>
              </a:ext>
            </a:extLst>
          </p:cNvPr>
          <p:cNvSpPr/>
          <p:nvPr/>
        </p:nvSpPr>
        <p:spPr>
          <a:xfrm rot="19003579">
            <a:off x="775571" y="5737546"/>
            <a:ext cx="492130" cy="14006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94084A-298F-8F83-A2CB-96C14E1CEDA6}"/>
              </a:ext>
            </a:extLst>
          </p:cNvPr>
          <p:cNvSpPr/>
          <p:nvPr/>
        </p:nvSpPr>
        <p:spPr>
          <a:xfrm rot="19003579">
            <a:off x="1179229" y="5770092"/>
            <a:ext cx="596886" cy="164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905E49-EFAD-82D6-2083-811F433F5DCD}"/>
              </a:ext>
            </a:extLst>
          </p:cNvPr>
          <p:cNvSpPr/>
          <p:nvPr/>
        </p:nvSpPr>
        <p:spPr>
          <a:xfrm rot="19003579">
            <a:off x="1851247" y="5785978"/>
            <a:ext cx="679123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3D5819-4664-ABE6-8F82-0B9E40EF8DFA}"/>
              </a:ext>
            </a:extLst>
          </p:cNvPr>
          <p:cNvSpPr/>
          <p:nvPr/>
        </p:nvSpPr>
        <p:spPr>
          <a:xfrm rot="19003579">
            <a:off x="2071346" y="5805628"/>
            <a:ext cx="675312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957879-764A-C690-21C5-2920C66D3164}"/>
              </a:ext>
            </a:extLst>
          </p:cNvPr>
          <p:cNvSpPr/>
          <p:nvPr/>
        </p:nvSpPr>
        <p:spPr>
          <a:xfrm rot="19003579">
            <a:off x="1597276" y="5796456"/>
            <a:ext cx="675312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EE0EB2-0597-2F64-4C84-7ABA87E3E4CD}"/>
              </a:ext>
            </a:extLst>
          </p:cNvPr>
          <p:cNvSpPr/>
          <p:nvPr/>
        </p:nvSpPr>
        <p:spPr>
          <a:xfrm rot="19003579">
            <a:off x="1356919" y="5787284"/>
            <a:ext cx="675312" cy="164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E575F7-D245-DC87-B31E-AFFB072AAA1B}"/>
              </a:ext>
            </a:extLst>
          </p:cNvPr>
          <p:cNvSpPr/>
          <p:nvPr/>
        </p:nvSpPr>
        <p:spPr>
          <a:xfrm rot="19003579">
            <a:off x="2738322" y="5722677"/>
            <a:ext cx="460050" cy="164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55FF9B-DAA7-7F01-9906-78DC9B05F807}"/>
              </a:ext>
            </a:extLst>
          </p:cNvPr>
          <p:cNvSpPr/>
          <p:nvPr/>
        </p:nvSpPr>
        <p:spPr>
          <a:xfrm rot="19003579">
            <a:off x="2962276" y="5748676"/>
            <a:ext cx="460050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E5CF6C1-A74F-27D3-D88B-A0C6BDDDD34E}"/>
              </a:ext>
            </a:extLst>
          </p:cNvPr>
          <p:cNvGrpSpPr/>
          <p:nvPr/>
        </p:nvGrpSpPr>
        <p:grpSpPr>
          <a:xfrm>
            <a:off x="4594860" y="1503682"/>
            <a:ext cx="4443153" cy="2664189"/>
            <a:chOff x="4594860" y="1503682"/>
            <a:chExt cx="4443153" cy="266418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258752C-BD5F-73D5-C752-719ACD8C3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94860" y="1503682"/>
              <a:ext cx="4443153" cy="266418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ED07C9A-AD39-6614-F121-B2A1E562D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4332" y="1764822"/>
              <a:ext cx="160340" cy="75262"/>
            </a:xfrm>
            <a:prstGeom prst="rect">
              <a:avLst/>
            </a:prstGeom>
          </p:spPr>
        </p:pic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C7E7CA6-3FB8-A8F3-918F-9551D498F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4821" y="6093874"/>
            <a:ext cx="449981" cy="152823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A3DBAC6A-C6DB-D68E-BA3E-0FD04D7A9171}"/>
              </a:ext>
            </a:extLst>
          </p:cNvPr>
          <p:cNvSpPr/>
          <p:nvPr/>
        </p:nvSpPr>
        <p:spPr>
          <a:xfrm rot="19003579">
            <a:off x="1002359" y="5739143"/>
            <a:ext cx="503051" cy="16268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455E147-2396-B7F7-55BA-91082DBFEA9B}"/>
              </a:ext>
            </a:extLst>
          </p:cNvPr>
          <p:cNvSpPr/>
          <p:nvPr/>
        </p:nvSpPr>
        <p:spPr>
          <a:xfrm rot="19003579">
            <a:off x="2359440" y="5782939"/>
            <a:ext cx="631710" cy="16439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90D5362-5D65-7133-FF8E-A17BD4936B00}"/>
              </a:ext>
            </a:extLst>
          </p:cNvPr>
          <p:cNvSpPr/>
          <p:nvPr/>
        </p:nvSpPr>
        <p:spPr>
          <a:xfrm rot="19003579">
            <a:off x="3071553" y="5791692"/>
            <a:ext cx="662449" cy="164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355130A-56EE-4802-2A1E-F1FC2226E6DB}"/>
              </a:ext>
            </a:extLst>
          </p:cNvPr>
          <p:cNvSpPr/>
          <p:nvPr/>
        </p:nvSpPr>
        <p:spPr>
          <a:xfrm rot="19003579">
            <a:off x="3470387" y="5738096"/>
            <a:ext cx="460050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8BFF79A-026A-5062-3010-31DD557A279A}"/>
              </a:ext>
            </a:extLst>
          </p:cNvPr>
          <p:cNvSpPr/>
          <p:nvPr/>
        </p:nvSpPr>
        <p:spPr>
          <a:xfrm rot="19003579">
            <a:off x="3786230" y="5797016"/>
            <a:ext cx="663764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0BBF5FE-D605-94C4-2A42-7BEAC2BD99AC}"/>
              </a:ext>
            </a:extLst>
          </p:cNvPr>
          <p:cNvSpPr/>
          <p:nvPr/>
        </p:nvSpPr>
        <p:spPr>
          <a:xfrm rot="19003579">
            <a:off x="3552355" y="5805628"/>
            <a:ext cx="663764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D8008E-23E0-74F9-8C59-0EFB20949762}"/>
              </a:ext>
            </a:extLst>
          </p:cNvPr>
          <p:cNvSpPr/>
          <p:nvPr/>
        </p:nvSpPr>
        <p:spPr>
          <a:xfrm rot="19003579">
            <a:off x="4029768" y="5796100"/>
            <a:ext cx="663764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84CF49F-ABF3-4606-3B5D-003758EE7134}"/>
              </a:ext>
            </a:extLst>
          </p:cNvPr>
          <p:cNvGrpSpPr/>
          <p:nvPr/>
        </p:nvGrpSpPr>
        <p:grpSpPr>
          <a:xfrm>
            <a:off x="806163" y="5748917"/>
            <a:ext cx="265706" cy="212633"/>
            <a:chOff x="806163" y="5748917"/>
            <a:chExt cx="265706" cy="212633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F70D030-7947-4268-6979-035D58FEEA7D}"/>
                </a:ext>
              </a:extLst>
            </p:cNvPr>
            <p:cNvSpPr/>
            <p:nvPr/>
          </p:nvSpPr>
          <p:spPr>
            <a:xfrm rot="19003579">
              <a:off x="806163" y="5815368"/>
              <a:ext cx="258340" cy="146182"/>
            </a:xfrm>
            <a:custGeom>
              <a:avLst/>
              <a:gdLst>
                <a:gd name="csX0" fmla="*/ 226170 w 227080"/>
                <a:gd name="csY0" fmla="*/ 0 h 137834"/>
                <a:gd name="csX1" fmla="*/ 227080 w 227080"/>
                <a:gd name="csY1" fmla="*/ 137834 h 137834"/>
                <a:gd name="csX2" fmla="*/ 150286 w 227080"/>
                <a:gd name="csY2" fmla="*/ 133422 h 137834"/>
                <a:gd name="csX3" fmla="*/ 0 w 227080"/>
                <a:gd name="csY3" fmla="*/ 68891 h 137834"/>
                <a:gd name="csX4" fmla="*/ 150285 w 227080"/>
                <a:gd name="csY4" fmla="*/ 4361 h 137834"/>
                <a:gd name="csX5" fmla="*/ 226170 w 227080"/>
                <a:gd name="csY5" fmla="*/ 0 h 137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7080" h="137834">
                  <a:moveTo>
                    <a:pt x="226170" y="0"/>
                  </a:moveTo>
                  <a:lnTo>
                    <a:pt x="227080" y="137834"/>
                  </a:lnTo>
                  <a:lnTo>
                    <a:pt x="150286" y="133422"/>
                  </a:lnTo>
                  <a:cubicBezTo>
                    <a:pt x="61969" y="122790"/>
                    <a:pt x="0" y="97901"/>
                    <a:pt x="0" y="68891"/>
                  </a:cubicBezTo>
                  <a:cubicBezTo>
                    <a:pt x="0" y="39882"/>
                    <a:pt x="61969" y="14992"/>
                    <a:pt x="150285" y="4361"/>
                  </a:cubicBezTo>
                  <a:lnTo>
                    <a:pt x="226170" y="0"/>
                  </a:lnTo>
                  <a:close/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B473FA1-8431-C20E-0F4C-D84B469B49E6}"/>
                </a:ext>
              </a:extLst>
            </p:cNvPr>
            <p:cNvSpPr/>
            <p:nvPr/>
          </p:nvSpPr>
          <p:spPr>
            <a:xfrm rot="2881743">
              <a:off x="965322" y="5776338"/>
              <a:ext cx="112292" cy="57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46D4A3C-BC30-6517-E8AF-C21B589BE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0707" t="-1062" r="-1" b="-1"/>
            <a:stretch>
              <a:fillRect/>
            </a:stretch>
          </p:blipFill>
          <p:spPr>
            <a:xfrm>
              <a:off x="1004323" y="5770245"/>
              <a:ext cx="67546" cy="76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5172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3EF3547C-3786-D97E-3947-1BB74F17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293C9929-8CA9-36B8-6B6F-17A832468752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Explainability of the Models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79B8E-C134-98EA-D341-4DD6452286A1}"/>
              </a:ext>
            </a:extLst>
          </p:cNvPr>
          <p:cNvSpPr txBox="1"/>
          <p:nvPr/>
        </p:nvSpPr>
        <p:spPr>
          <a:xfrm>
            <a:off x="334949" y="734242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EXPLAINABILITY OF CATBOOST INTO ONE OPERATING CONDITION AND TWO DEGRADATIONS MODES</a:t>
            </a:r>
          </a:p>
          <a:p>
            <a:pPr algn="ctr"/>
            <a:r>
              <a:rPr lang="pt-BR" b="1" dirty="0"/>
              <a:t>(FD003) 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83BDE-3D85-1478-FA91-52D0EC55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68"/>
          <a:stretch>
            <a:fillRect/>
          </a:stretch>
        </p:blipFill>
        <p:spPr>
          <a:xfrm>
            <a:off x="235303" y="1294965"/>
            <a:ext cx="9043200" cy="488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C263A-8F0D-215B-8BC4-0367190B7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821" y="6093874"/>
            <a:ext cx="449981" cy="15282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E202BD0-37AD-FDFB-9633-5B073FFD32D6}"/>
              </a:ext>
            </a:extLst>
          </p:cNvPr>
          <p:cNvGrpSpPr/>
          <p:nvPr/>
        </p:nvGrpSpPr>
        <p:grpSpPr>
          <a:xfrm>
            <a:off x="4594860" y="1503682"/>
            <a:ext cx="4443153" cy="2664189"/>
            <a:chOff x="3810000" y="1392661"/>
            <a:chExt cx="4443153" cy="266418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4C8FF27-1E9A-C99F-8E9C-6851A6952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0" y="1392661"/>
              <a:ext cx="4443153" cy="26641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DE1B7B6-54B3-863E-CC70-52D10C910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89472" y="1653801"/>
              <a:ext cx="160340" cy="75262"/>
            </a:xfrm>
            <a:prstGeom prst="rect">
              <a:avLst/>
            </a:prstGeom>
          </p:spPr>
        </p:pic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F8C1CAF7-1CCA-0EB8-DBFB-657B2756D2BD}"/>
              </a:ext>
            </a:extLst>
          </p:cNvPr>
          <p:cNvSpPr/>
          <p:nvPr/>
        </p:nvSpPr>
        <p:spPr>
          <a:xfrm rot="19003579">
            <a:off x="189585" y="5765099"/>
            <a:ext cx="654763" cy="16439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EE8204-D181-0491-4DC5-344CBA998245}"/>
              </a:ext>
            </a:extLst>
          </p:cNvPr>
          <p:cNvSpPr/>
          <p:nvPr/>
        </p:nvSpPr>
        <p:spPr>
          <a:xfrm rot="19003579">
            <a:off x="433425" y="5765099"/>
            <a:ext cx="654763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54B69B-2566-DA89-06CD-6FAA5D54927A}"/>
              </a:ext>
            </a:extLst>
          </p:cNvPr>
          <p:cNvSpPr/>
          <p:nvPr/>
        </p:nvSpPr>
        <p:spPr>
          <a:xfrm rot="19003579">
            <a:off x="656900" y="5788613"/>
            <a:ext cx="654763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CF74426-1B4C-7F7F-60C1-FA29B782BDDE}"/>
              </a:ext>
            </a:extLst>
          </p:cNvPr>
          <p:cNvSpPr/>
          <p:nvPr/>
        </p:nvSpPr>
        <p:spPr>
          <a:xfrm rot="19003579">
            <a:off x="1329666" y="5795604"/>
            <a:ext cx="675312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23F5C08-9B9D-D91D-6E9E-5B76790DF7D3}"/>
              </a:ext>
            </a:extLst>
          </p:cNvPr>
          <p:cNvSpPr/>
          <p:nvPr/>
        </p:nvSpPr>
        <p:spPr>
          <a:xfrm rot="19003579">
            <a:off x="1212821" y="5746125"/>
            <a:ext cx="551902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6F3AF8-04C7-363B-BBC2-92533C319200}"/>
              </a:ext>
            </a:extLst>
          </p:cNvPr>
          <p:cNvSpPr/>
          <p:nvPr/>
        </p:nvSpPr>
        <p:spPr>
          <a:xfrm rot="19003579">
            <a:off x="907736" y="5777711"/>
            <a:ext cx="634243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DEB129D-F1A8-703F-49FE-9624EFABEF6C}"/>
              </a:ext>
            </a:extLst>
          </p:cNvPr>
          <p:cNvSpPr/>
          <p:nvPr/>
        </p:nvSpPr>
        <p:spPr>
          <a:xfrm rot="19003579">
            <a:off x="2235832" y="5728761"/>
            <a:ext cx="480137" cy="16439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A3204A4-1DD6-0051-96C2-8C281B889445}"/>
              </a:ext>
            </a:extLst>
          </p:cNvPr>
          <p:cNvSpPr/>
          <p:nvPr/>
        </p:nvSpPr>
        <p:spPr>
          <a:xfrm rot="19003579">
            <a:off x="2001060" y="5717164"/>
            <a:ext cx="460480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5DB2145-0C0D-E6CC-9977-8498CA1FFEE3}"/>
              </a:ext>
            </a:extLst>
          </p:cNvPr>
          <p:cNvSpPr/>
          <p:nvPr/>
        </p:nvSpPr>
        <p:spPr>
          <a:xfrm rot="19003579">
            <a:off x="2440484" y="5728572"/>
            <a:ext cx="551902" cy="16477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EEFEDEE-95E1-CA5C-6F61-2D0AE2EE722C}"/>
              </a:ext>
            </a:extLst>
          </p:cNvPr>
          <p:cNvSpPr/>
          <p:nvPr/>
        </p:nvSpPr>
        <p:spPr>
          <a:xfrm rot="19003579">
            <a:off x="1636755" y="5776856"/>
            <a:ext cx="621540" cy="16439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4C547A3-22F2-988D-3351-D20D9CFEA288}"/>
              </a:ext>
            </a:extLst>
          </p:cNvPr>
          <p:cNvSpPr/>
          <p:nvPr/>
        </p:nvSpPr>
        <p:spPr>
          <a:xfrm rot="19003579">
            <a:off x="2523336" y="5790608"/>
            <a:ext cx="725283" cy="16439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8FEBE7B-825E-3CEB-8C7A-03C5F52A4247}"/>
              </a:ext>
            </a:extLst>
          </p:cNvPr>
          <p:cNvSpPr/>
          <p:nvPr/>
        </p:nvSpPr>
        <p:spPr>
          <a:xfrm rot="19003579">
            <a:off x="2797827" y="5781430"/>
            <a:ext cx="654763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49D1E6B-BA88-7045-A944-EA9A013E0616}"/>
              </a:ext>
            </a:extLst>
          </p:cNvPr>
          <p:cNvSpPr/>
          <p:nvPr/>
        </p:nvSpPr>
        <p:spPr>
          <a:xfrm rot="19003579">
            <a:off x="3202722" y="5711749"/>
            <a:ext cx="460480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976DF7D-1B3A-C119-2AEC-341C5D8C473B}"/>
              </a:ext>
            </a:extLst>
          </p:cNvPr>
          <p:cNvSpPr/>
          <p:nvPr/>
        </p:nvSpPr>
        <p:spPr>
          <a:xfrm rot="19003579">
            <a:off x="3135792" y="5843960"/>
            <a:ext cx="827390" cy="1643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83E1777-1D26-5AAC-7A1E-5EBCB60ED283}"/>
              </a:ext>
            </a:extLst>
          </p:cNvPr>
          <p:cNvSpPr/>
          <p:nvPr/>
        </p:nvSpPr>
        <p:spPr>
          <a:xfrm rot="19003579">
            <a:off x="3516722" y="5803130"/>
            <a:ext cx="627366" cy="14006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A4C55FA-D425-B7E5-D86A-548AB140B0FD}"/>
              </a:ext>
            </a:extLst>
          </p:cNvPr>
          <p:cNvGrpSpPr/>
          <p:nvPr/>
        </p:nvGrpSpPr>
        <p:grpSpPr>
          <a:xfrm>
            <a:off x="3565700" y="5860852"/>
            <a:ext cx="265706" cy="212633"/>
            <a:chOff x="806163" y="5748917"/>
            <a:chExt cx="265706" cy="212633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4E2B68-54D6-2F0F-A093-02475A673F29}"/>
                </a:ext>
              </a:extLst>
            </p:cNvPr>
            <p:cNvSpPr/>
            <p:nvPr/>
          </p:nvSpPr>
          <p:spPr>
            <a:xfrm rot="19003579">
              <a:off x="806163" y="5815368"/>
              <a:ext cx="258340" cy="146182"/>
            </a:xfrm>
            <a:custGeom>
              <a:avLst/>
              <a:gdLst>
                <a:gd name="csX0" fmla="*/ 226170 w 227080"/>
                <a:gd name="csY0" fmla="*/ 0 h 137834"/>
                <a:gd name="csX1" fmla="*/ 227080 w 227080"/>
                <a:gd name="csY1" fmla="*/ 137834 h 137834"/>
                <a:gd name="csX2" fmla="*/ 150286 w 227080"/>
                <a:gd name="csY2" fmla="*/ 133422 h 137834"/>
                <a:gd name="csX3" fmla="*/ 0 w 227080"/>
                <a:gd name="csY3" fmla="*/ 68891 h 137834"/>
                <a:gd name="csX4" fmla="*/ 150285 w 227080"/>
                <a:gd name="csY4" fmla="*/ 4361 h 137834"/>
                <a:gd name="csX5" fmla="*/ 226170 w 227080"/>
                <a:gd name="csY5" fmla="*/ 0 h 137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7080" h="137834">
                  <a:moveTo>
                    <a:pt x="226170" y="0"/>
                  </a:moveTo>
                  <a:lnTo>
                    <a:pt x="227080" y="137834"/>
                  </a:lnTo>
                  <a:lnTo>
                    <a:pt x="150286" y="133422"/>
                  </a:lnTo>
                  <a:cubicBezTo>
                    <a:pt x="61969" y="122790"/>
                    <a:pt x="0" y="97901"/>
                    <a:pt x="0" y="68891"/>
                  </a:cubicBezTo>
                  <a:cubicBezTo>
                    <a:pt x="0" y="39882"/>
                    <a:pt x="61969" y="14992"/>
                    <a:pt x="150285" y="4361"/>
                  </a:cubicBezTo>
                  <a:lnTo>
                    <a:pt x="226170" y="0"/>
                  </a:lnTo>
                  <a:close/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F4EE41A-C0F0-F4E8-BA34-E966D406A69B}"/>
                </a:ext>
              </a:extLst>
            </p:cNvPr>
            <p:cNvSpPr/>
            <p:nvPr/>
          </p:nvSpPr>
          <p:spPr>
            <a:xfrm rot="2881743">
              <a:off x="965322" y="5776338"/>
              <a:ext cx="112292" cy="57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498E094-F3B0-D224-0FB1-567116B3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0707" t="-1062" r="-1" b="-1"/>
            <a:stretch>
              <a:fillRect/>
            </a:stretch>
          </p:blipFill>
          <p:spPr>
            <a:xfrm>
              <a:off x="1004323" y="5770245"/>
              <a:ext cx="67546" cy="76449"/>
            </a:xfrm>
            <a:prstGeom prst="rect">
              <a:avLst/>
            </a:prstGeom>
          </p:spPr>
        </p:pic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FBDAAD8C-735A-130D-E79C-4CD46C23AECA}"/>
              </a:ext>
            </a:extLst>
          </p:cNvPr>
          <p:cNvSpPr/>
          <p:nvPr/>
        </p:nvSpPr>
        <p:spPr>
          <a:xfrm rot="19003579">
            <a:off x="3755888" y="5786232"/>
            <a:ext cx="668468" cy="17833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3CD478D-3B67-735E-6FAB-F0A259E458B2}"/>
              </a:ext>
            </a:extLst>
          </p:cNvPr>
          <p:cNvSpPr/>
          <p:nvPr/>
        </p:nvSpPr>
        <p:spPr>
          <a:xfrm rot="19003579">
            <a:off x="3980623" y="5808340"/>
            <a:ext cx="660467" cy="13930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23C2ED9-1616-8172-6188-FC2AB5A75540}"/>
              </a:ext>
            </a:extLst>
          </p:cNvPr>
          <p:cNvSpPr/>
          <p:nvPr/>
        </p:nvSpPr>
        <p:spPr>
          <a:xfrm rot="19003579">
            <a:off x="4201109" y="5809399"/>
            <a:ext cx="697655" cy="13930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E7BE3AE-6713-D860-3C27-EFCB9E2EB8FF}"/>
              </a:ext>
            </a:extLst>
          </p:cNvPr>
          <p:cNvSpPr/>
          <p:nvPr/>
        </p:nvSpPr>
        <p:spPr>
          <a:xfrm rot="19003579">
            <a:off x="4608471" y="5742264"/>
            <a:ext cx="501774" cy="13930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72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24A9-3039-5EF4-3BE7-0360291E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680855FB-3685-9D2F-D7D4-6D05CFC189EE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9BDDB-CB59-97C3-07E2-A38AB9CA1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47" y="1485330"/>
            <a:ext cx="4598609" cy="4499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154295-EB9A-AB68-6F37-718B11B11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42" y="1427243"/>
            <a:ext cx="4598609" cy="45632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82669-2333-26A8-3246-591FA0EB7D34}"/>
              </a:ext>
            </a:extLst>
          </p:cNvPr>
          <p:cNvSpPr txBox="1"/>
          <p:nvPr/>
        </p:nvSpPr>
        <p:spPr>
          <a:xfrm>
            <a:off x="424562" y="870817"/>
            <a:ext cx="885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ONE DEGRADATION MODE </a:t>
            </a:r>
          </a:p>
          <a:p>
            <a:pPr algn="ctr"/>
            <a:r>
              <a:rPr lang="pt-BR" b="1" dirty="0"/>
              <a:t>(FD001)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9687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A307F-B8BF-53BC-C50E-8D4E073E378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4EAA44CC-57AC-B12D-0F33-7ADED15C85DC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22AB87-EA74-04D1-47D5-D3C27A80D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49" y="1475770"/>
            <a:ext cx="9087522" cy="38454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0D5BCC-C43A-9151-6E75-EDC63F85B75C}"/>
              </a:ext>
            </a:extLst>
          </p:cNvPr>
          <p:cNvSpPr txBox="1"/>
          <p:nvPr/>
        </p:nvSpPr>
        <p:spPr>
          <a:xfrm>
            <a:off x="424562" y="870817"/>
            <a:ext cx="885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ONE DEGRADATION MODE </a:t>
            </a:r>
          </a:p>
          <a:p>
            <a:pPr algn="ctr"/>
            <a:r>
              <a:rPr lang="pt-BR" b="1" dirty="0"/>
              <a:t>(FD001)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33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60D4-56D2-7C9D-10E1-21511AAC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33071-5939-304C-E684-99960BF25B6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7257A854-FF30-30D5-703A-66908E95F90D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99E69-FA10-6594-0B08-BC956FA85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5709"/>
            <a:ext cx="9699625" cy="2506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AA27C3-468A-1B5C-CB67-5A98DE075E36}"/>
              </a:ext>
            </a:extLst>
          </p:cNvPr>
          <p:cNvSpPr txBox="1"/>
          <p:nvPr/>
        </p:nvSpPr>
        <p:spPr>
          <a:xfrm>
            <a:off x="424562" y="870817"/>
            <a:ext cx="885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ONE DEGRADATION MODE </a:t>
            </a:r>
          </a:p>
          <a:p>
            <a:pPr algn="ctr"/>
            <a:r>
              <a:rPr lang="pt-BR" b="1" dirty="0"/>
              <a:t>(FD001)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7278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8E405-8EEA-C63B-DCF2-0E7FAFB3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990D30F4-DA14-46C5-7374-1FBB5F8352C4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EDDA4-8238-08F3-44E6-A317230ABDEB}"/>
              </a:ext>
            </a:extLst>
          </p:cNvPr>
          <p:cNvSpPr txBox="1"/>
          <p:nvPr/>
        </p:nvSpPr>
        <p:spPr>
          <a:xfrm>
            <a:off x="334949" y="819670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TWO DEGRADATIONS MODES</a:t>
            </a:r>
          </a:p>
          <a:p>
            <a:pPr algn="ctr"/>
            <a:r>
              <a:rPr lang="pt-BR" b="1" dirty="0"/>
              <a:t>(FD003)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E9F3D-1C87-A126-587B-86974A3F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6" y="1403850"/>
            <a:ext cx="4846673" cy="4714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FDE900-0700-3D86-FA6F-FF5FE5768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349" y="1419439"/>
            <a:ext cx="4700741" cy="46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4BCF-B2CF-89CC-BE32-8FD8C6A1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52299-A078-D124-3268-3FEAC40D09D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D99B82C2-36A4-2E95-83C8-DC48F494B0E3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9333E-283C-32C5-C952-3E9A8004194C}"/>
              </a:ext>
            </a:extLst>
          </p:cNvPr>
          <p:cNvSpPr txBox="1"/>
          <p:nvPr/>
        </p:nvSpPr>
        <p:spPr>
          <a:xfrm>
            <a:off x="334949" y="819670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TWO DEGRADATIONS MODES</a:t>
            </a:r>
          </a:p>
          <a:p>
            <a:pPr algn="ctr"/>
            <a:r>
              <a:rPr lang="pt-BR" b="1" dirty="0"/>
              <a:t>(FD003) 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E553D1-FE38-AF88-AAD7-B6F55536E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" y="1423335"/>
            <a:ext cx="9133840" cy="38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98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08D6-2A07-B944-B6B1-D63EB087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924EB-B42D-2F4F-F827-9AD6A7624FF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4D335629-92E2-946C-19B0-6D89F2FC179C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C0D8F-8193-D5DC-03BB-C8F62A936A41}"/>
              </a:ext>
            </a:extLst>
          </p:cNvPr>
          <p:cNvSpPr txBox="1"/>
          <p:nvPr/>
        </p:nvSpPr>
        <p:spPr>
          <a:xfrm>
            <a:off x="334949" y="819670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TWO DEGRADATIONS MODES</a:t>
            </a:r>
          </a:p>
          <a:p>
            <a:pPr algn="ctr"/>
            <a:r>
              <a:rPr lang="pt-BR" b="1" dirty="0"/>
              <a:t>(FD003)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50E33-6453-4B35-BBA5-1508ECB2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5393"/>
            <a:ext cx="9699625" cy="25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16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1A15-F6A9-2A79-3AFA-2846E784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37F257C3-67E4-B21A-6A38-F9ABDA8BCCC1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60F56-312D-2C1B-62A4-D86A4F65323E}"/>
              </a:ext>
            </a:extLst>
          </p:cNvPr>
          <p:cNvSpPr txBox="1"/>
          <p:nvPr/>
        </p:nvSpPr>
        <p:spPr>
          <a:xfrm>
            <a:off x="334949" y="734242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TWO DEGRADATIONS MODES</a:t>
            </a:r>
          </a:p>
          <a:p>
            <a:pPr algn="ctr"/>
            <a:r>
              <a:rPr lang="pt-BR" b="1" dirty="0"/>
              <a:t>(FD001+FD003) 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0F1E71-79AD-3A1A-27A5-9CE65339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154"/>
          <a:stretch>
            <a:fillRect/>
          </a:stretch>
        </p:blipFill>
        <p:spPr>
          <a:xfrm>
            <a:off x="185480" y="1388534"/>
            <a:ext cx="4617027" cy="4595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E2DCEE-3D99-2AA0-D87F-AFE34D3F0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54"/>
          <a:stretch>
            <a:fillRect/>
          </a:stretch>
        </p:blipFill>
        <p:spPr>
          <a:xfrm>
            <a:off x="4903492" y="1430182"/>
            <a:ext cx="4617026" cy="459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88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5DA9-7DFB-7D34-DD7C-E767B2FF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8;p2">
            <a:extLst>
              <a:ext uri="{FF2B5EF4-FFF2-40B4-BE49-F238E27FC236}">
                <a16:creationId xmlns:a16="http://schemas.microsoft.com/office/drawing/2014/main" id="{3A6A571F-A589-736C-186E-D3A368468648}"/>
              </a:ext>
            </a:extLst>
          </p:cNvPr>
          <p:cNvSpPr txBox="1">
            <a:spLocks/>
          </p:cNvSpPr>
          <p:nvPr/>
        </p:nvSpPr>
        <p:spPr>
          <a:xfrm>
            <a:off x="487349" y="2816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Evaluation of the Proposed Health-Margin Strategy</a:t>
            </a:r>
          </a:p>
          <a:p>
            <a:pPr marL="0" indent="0">
              <a:spcBef>
                <a:spcPts val="0"/>
              </a:spcBef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002BF-834D-6483-42CC-75EBCAB4E2A3}"/>
              </a:ext>
            </a:extLst>
          </p:cNvPr>
          <p:cNvSpPr txBox="1"/>
          <p:nvPr/>
        </p:nvSpPr>
        <p:spPr>
          <a:xfrm>
            <a:off x="334949" y="734242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HEALTH MARGIN EVALUATION INTO ONE OPERATING CONDITION AND TWO DEGRADATIONS MODES</a:t>
            </a:r>
          </a:p>
          <a:p>
            <a:pPr algn="ctr"/>
            <a:r>
              <a:rPr lang="pt-BR" b="1" dirty="0"/>
              <a:t>(FD001+FD003)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E168A-B45E-8D41-3B71-195E308D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2" y="1309284"/>
            <a:ext cx="9043200" cy="384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5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6C4F2CD-6C0D-DB07-EDB1-8B60EC09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A40CB8D1-0E44-EDFF-A59C-25B0CCE4331E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dirty="0" err="1"/>
              <a:t>Regression</a:t>
            </a:r>
            <a:r>
              <a:rPr lang="pt-BR" dirty="0"/>
              <a:t> </a:t>
            </a:r>
            <a:r>
              <a:rPr lang="pt-BR" dirty="0" err="1"/>
              <a:t>results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87CBD-34A3-97A3-C080-C30C02653311}"/>
              </a:ext>
            </a:extLst>
          </p:cNvPr>
          <p:cNvSpPr txBox="1"/>
          <p:nvPr/>
        </p:nvSpPr>
        <p:spPr>
          <a:xfrm>
            <a:off x="2966925" y="1007508"/>
            <a:ext cx="3765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TEST METRICS FOR EACH SUBDATASET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6F177-E135-715E-59FF-077B1B84B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92" y="1848973"/>
            <a:ext cx="8473440" cy="22006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CB4781-4DDA-1F21-EF14-A89B6A4C9737}"/>
              </a:ext>
            </a:extLst>
          </p:cNvPr>
          <p:cNvSpPr/>
          <p:nvPr/>
        </p:nvSpPr>
        <p:spPr>
          <a:xfrm>
            <a:off x="5044440" y="2512577"/>
            <a:ext cx="419100" cy="1422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17AB50-BFCD-4A63-4B66-A571FEFB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77" t="28423" r="33135" b="6923"/>
          <a:stretch>
            <a:fillRect/>
          </a:stretch>
        </p:blipFill>
        <p:spPr>
          <a:xfrm>
            <a:off x="5261610" y="2482096"/>
            <a:ext cx="1295400" cy="142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08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9E4B748-F742-1D3A-281B-76BE5CE6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>
            <a:extLst>
              <a:ext uri="{FF2B5EF4-FFF2-40B4-BE49-F238E27FC236}">
                <a16:creationId xmlns:a16="http://schemas.microsoft.com/office/drawing/2014/main" id="{C7F9ABCE-B747-B679-D341-3EDF1D18584B}"/>
              </a:ext>
            </a:extLst>
          </p:cNvPr>
          <p:cNvSpPr/>
          <p:nvPr/>
        </p:nvSpPr>
        <p:spPr>
          <a:xfrm>
            <a:off x="1287264" y="2786769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>
            <a:extLst>
              <a:ext uri="{FF2B5EF4-FFF2-40B4-BE49-F238E27FC236}">
                <a16:creationId xmlns:a16="http://schemas.microsoft.com/office/drawing/2014/main" id="{F7AC5411-732E-514F-BF41-EAA25CBCAD2F}"/>
              </a:ext>
            </a:extLst>
          </p:cNvPr>
          <p:cNvSpPr/>
          <p:nvPr/>
        </p:nvSpPr>
        <p:spPr>
          <a:xfrm>
            <a:off x="1782764" y="2786769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lang="en-US" sz="2400" dirty="0"/>
          </a:p>
        </p:txBody>
      </p:sp>
      <p:sp>
        <p:nvSpPr>
          <p:cNvPr id="245" name="Google Shape;245;p3">
            <a:extLst>
              <a:ext uri="{FF2B5EF4-FFF2-40B4-BE49-F238E27FC236}">
                <a16:creationId xmlns:a16="http://schemas.microsoft.com/office/drawing/2014/main" id="{7DCD5C5F-1A31-10B0-005A-58FCDBDB2DA7}"/>
              </a:ext>
            </a:extLst>
          </p:cNvPr>
          <p:cNvSpPr/>
          <p:nvPr/>
        </p:nvSpPr>
        <p:spPr>
          <a:xfrm>
            <a:off x="1287264" y="2786769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>
            <a:extLst>
              <a:ext uri="{FF2B5EF4-FFF2-40B4-BE49-F238E27FC236}">
                <a16:creationId xmlns:a16="http://schemas.microsoft.com/office/drawing/2014/main" id="{B08E4C7F-0D3E-75DF-B6B3-237E335DB7E8}"/>
              </a:ext>
            </a:extLst>
          </p:cNvPr>
          <p:cNvSpPr/>
          <p:nvPr/>
        </p:nvSpPr>
        <p:spPr>
          <a:xfrm>
            <a:off x="1287264" y="2202137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>
            <a:extLst>
              <a:ext uri="{FF2B5EF4-FFF2-40B4-BE49-F238E27FC236}">
                <a16:creationId xmlns:a16="http://schemas.microsoft.com/office/drawing/2014/main" id="{E1E85BA4-D19A-D3A6-5755-F64DD49433C3}"/>
              </a:ext>
            </a:extLst>
          </p:cNvPr>
          <p:cNvSpPr/>
          <p:nvPr/>
        </p:nvSpPr>
        <p:spPr>
          <a:xfrm>
            <a:off x="1782764" y="2202137"/>
            <a:ext cx="30670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lang="en-US" sz="2400" dirty="0"/>
          </a:p>
        </p:txBody>
      </p:sp>
      <p:sp>
        <p:nvSpPr>
          <p:cNvPr id="248" name="Google Shape;248;p3">
            <a:extLst>
              <a:ext uri="{FF2B5EF4-FFF2-40B4-BE49-F238E27FC236}">
                <a16:creationId xmlns:a16="http://schemas.microsoft.com/office/drawing/2014/main" id="{07546006-34E5-AE5C-4103-FF9614C636AC}"/>
              </a:ext>
            </a:extLst>
          </p:cNvPr>
          <p:cNvSpPr/>
          <p:nvPr/>
        </p:nvSpPr>
        <p:spPr>
          <a:xfrm>
            <a:off x="1287264" y="2202137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>
            <a:extLst>
              <a:ext uri="{FF2B5EF4-FFF2-40B4-BE49-F238E27FC236}">
                <a16:creationId xmlns:a16="http://schemas.microsoft.com/office/drawing/2014/main" id="{51A09BE5-AC91-193B-C0B7-3A00B6FDB5A2}"/>
              </a:ext>
            </a:extLst>
          </p:cNvPr>
          <p:cNvSpPr/>
          <p:nvPr/>
        </p:nvSpPr>
        <p:spPr>
          <a:xfrm>
            <a:off x="1287264" y="1617505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>
            <a:extLst>
              <a:ext uri="{FF2B5EF4-FFF2-40B4-BE49-F238E27FC236}">
                <a16:creationId xmlns:a16="http://schemas.microsoft.com/office/drawing/2014/main" id="{F70A4F16-8C10-B00F-61B1-0D753AD55DB5}"/>
              </a:ext>
            </a:extLst>
          </p:cNvPr>
          <p:cNvSpPr/>
          <p:nvPr/>
        </p:nvSpPr>
        <p:spPr>
          <a:xfrm>
            <a:off x="1782764" y="1617505"/>
            <a:ext cx="227709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noProof="0" dirty="0"/>
          </a:p>
        </p:txBody>
      </p:sp>
      <p:sp>
        <p:nvSpPr>
          <p:cNvPr id="251" name="Google Shape;251;p3">
            <a:extLst>
              <a:ext uri="{FF2B5EF4-FFF2-40B4-BE49-F238E27FC236}">
                <a16:creationId xmlns:a16="http://schemas.microsoft.com/office/drawing/2014/main" id="{D9942965-4DC2-86CF-AB4C-A46035C13FEF}"/>
              </a:ext>
            </a:extLst>
          </p:cNvPr>
          <p:cNvSpPr/>
          <p:nvPr/>
        </p:nvSpPr>
        <p:spPr>
          <a:xfrm>
            <a:off x="1287264" y="1617505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C839ED8B-E901-73AC-48DA-9B08B8620850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noProof="0" dirty="0"/>
              <a:t>Agenda</a:t>
            </a:r>
          </a:p>
        </p:txBody>
      </p:sp>
      <p:sp>
        <p:nvSpPr>
          <p:cNvPr id="3" name="Google Shape;243;p3">
            <a:extLst>
              <a:ext uri="{FF2B5EF4-FFF2-40B4-BE49-F238E27FC236}">
                <a16:creationId xmlns:a16="http://schemas.microsoft.com/office/drawing/2014/main" id="{489536C3-2787-E200-7CD2-0DC547394CAC}"/>
              </a:ext>
            </a:extLst>
          </p:cNvPr>
          <p:cNvSpPr/>
          <p:nvPr/>
        </p:nvSpPr>
        <p:spPr>
          <a:xfrm>
            <a:off x="1287264" y="3371401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4;p3">
            <a:extLst>
              <a:ext uri="{FF2B5EF4-FFF2-40B4-BE49-F238E27FC236}">
                <a16:creationId xmlns:a16="http://schemas.microsoft.com/office/drawing/2014/main" id="{D123F21F-C684-FADD-D1D7-51471120ECDC}"/>
              </a:ext>
            </a:extLst>
          </p:cNvPr>
          <p:cNvSpPr/>
          <p:nvPr/>
        </p:nvSpPr>
        <p:spPr>
          <a:xfrm>
            <a:off x="1782764" y="3371401"/>
            <a:ext cx="34578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lvl="0">
              <a:buSzPts val="2200"/>
            </a:pPr>
            <a:r>
              <a:rPr lang="en-US" sz="2200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lang="en-US" noProof="0" dirty="0"/>
          </a:p>
        </p:txBody>
      </p:sp>
      <p:sp>
        <p:nvSpPr>
          <p:cNvPr id="7" name="Google Shape;245;p3">
            <a:extLst>
              <a:ext uri="{FF2B5EF4-FFF2-40B4-BE49-F238E27FC236}">
                <a16:creationId xmlns:a16="http://schemas.microsoft.com/office/drawing/2014/main" id="{3B0FD885-703D-6CF8-26C3-1FD85BD302A9}"/>
              </a:ext>
            </a:extLst>
          </p:cNvPr>
          <p:cNvSpPr/>
          <p:nvPr/>
        </p:nvSpPr>
        <p:spPr>
          <a:xfrm>
            <a:off x="1287264" y="3371401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52;p3">
            <a:extLst>
              <a:ext uri="{FF2B5EF4-FFF2-40B4-BE49-F238E27FC236}">
                <a16:creationId xmlns:a16="http://schemas.microsoft.com/office/drawing/2014/main" id="{DCEFC54B-331C-DFF7-2DD4-1508DB8C4291}"/>
              </a:ext>
            </a:extLst>
          </p:cNvPr>
          <p:cNvSpPr/>
          <p:nvPr/>
        </p:nvSpPr>
        <p:spPr>
          <a:xfrm>
            <a:off x="1287264" y="3956033"/>
            <a:ext cx="9720000" cy="43858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>
            <a:noFill/>
          </a:ln>
        </p:spPr>
        <p:txBody>
          <a:bodyPr spcFirstLastPara="1" wrap="square" lIns="0" tIns="49525" rIns="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noProof="0" dirty="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3;p3">
            <a:extLst>
              <a:ext uri="{FF2B5EF4-FFF2-40B4-BE49-F238E27FC236}">
                <a16:creationId xmlns:a16="http://schemas.microsoft.com/office/drawing/2014/main" id="{F7702E0A-932D-3E8C-67BF-BDCBFE9C926E}"/>
              </a:ext>
            </a:extLst>
          </p:cNvPr>
          <p:cNvSpPr/>
          <p:nvPr/>
        </p:nvSpPr>
        <p:spPr>
          <a:xfrm>
            <a:off x="1782763" y="3956033"/>
            <a:ext cx="2765173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0" bIns="49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4;p3">
            <a:extLst>
              <a:ext uri="{FF2B5EF4-FFF2-40B4-BE49-F238E27FC236}">
                <a16:creationId xmlns:a16="http://schemas.microsoft.com/office/drawing/2014/main" id="{F6BFA396-9A44-FC2D-6331-827B9D4B89DE}"/>
              </a:ext>
            </a:extLst>
          </p:cNvPr>
          <p:cNvSpPr/>
          <p:nvPr/>
        </p:nvSpPr>
        <p:spPr>
          <a:xfrm>
            <a:off x="1287264" y="3956033"/>
            <a:ext cx="432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49525" rIns="76200" bIns="49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lang="en-US" sz="1400" b="0" i="0" u="none" strike="noStrike" cap="none" noProof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9562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11B265BE-9001-CF1A-12A9-BC435ED3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77696948-68FE-6EC0-8442-F80AEE2734A9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Conclusions</a:t>
            </a:r>
            <a:endParaRPr lang="en-US" noProof="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06D14D-B8E0-5CFC-D9AD-5A97CA518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49" y="792000"/>
            <a:ext cx="9043200" cy="5226663"/>
          </a:xfrm>
        </p:spPr>
        <p:txBody>
          <a:bodyPr/>
          <a:lstStyle/>
          <a:p>
            <a:pPr marL="518160" indent="-457200">
              <a:buFont typeface="+mj-lt"/>
              <a:buAutoNum type="arabicPeriod"/>
            </a:pPr>
            <a:r>
              <a:rPr lang="en-US" dirty="0"/>
              <a:t>Adaptive degradation onset detection proposed.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SHAP confirmed physically meaningful degradation indicators.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Health-margin reduced corrective maintenance recommendations.</a:t>
            </a:r>
          </a:p>
          <a:p>
            <a:pPr marL="518160" indent="-457200">
              <a:buFont typeface="+mj-lt"/>
              <a:buAutoNum type="arabicPeriod"/>
            </a:pPr>
            <a:r>
              <a:rPr lang="en-US" dirty="0"/>
              <a:t>Predictive models and practical maintenance decision-making were integrated.</a:t>
            </a:r>
          </a:p>
          <a:p>
            <a:pPr marL="518160" indent="-457200">
              <a:buFont typeface="+mj-lt"/>
              <a:buAutoNum type="arabicPeriod"/>
            </a:pPr>
            <a:endParaRPr lang="en-US" dirty="0"/>
          </a:p>
          <a:p>
            <a:pPr marL="51816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54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7CE1D9D6-6BE0-7BB6-3275-82BAD44B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8;p2">
            <a:extLst>
              <a:ext uri="{FF2B5EF4-FFF2-40B4-BE49-F238E27FC236}">
                <a16:creationId xmlns:a16="http://schemas.microsoft.com/office/drawing/2014/main" id="{A764AE37-B25F-71E9-C1E7-01BFEA6139A5}"/>
              </a:ext>
            </a:extLst>
          </p:cNvPr>
          <p:cNvSpPr txBox="1">
            <a:spLocks/>
          </p:cNvSpPr>
          <p:nvPr/>
        </p:nvSpPr>
        <p:spPr>
          <a:xfrm>
            <a:off x="334949" y="129279"/>
            <a:ext cx="9043200" cy="46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Limitations &amp; Future Work</a:t>
            </a:r>
            <a:endParaRPr lang="en-US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C0D8BA-1F67-6754-32FC-C86A2649AB2D}"/>
              </a:ext>
            </a:extLst>
          </p:cNvPr>
          <p:cNvSpPr/>
          <p:nvPr/>
        </p:nvSpPr>
        <p:spPr>
          <a:xfrm>
            <a:off x="393873" y="1397322"/>
            <a:ext cx="4273158" cy="3746500"/>
          </a:xfrm>
          <a:prstGeom prst="roundRect">
            <a:avLst/>
          </a:prstGeom>
          <a:solidFill>
            <a:srgbClr val="FFD9D9"/>
          </a:solidFill>
          <a:ln>
            <a:solidFill>
              <a:srgbClr val="FFB9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DD7F9A-390E-9202-E85A-043ECBACF036}"/>
              </a:ext>
            </a:extLst>
          </p:cNvPr>
          <p:cNvSpPr/>
          <p:nvPr/>
        </p:nvSpPr>
        <p:spPr>
          <a:xfrm>
            <a:off x="5032592" y="1397322"/>
            <a:ext cx="4273158" cy="3746500"/>
          </a:xfrm>
          <a:prstGeom prst="roundRect">
            <a:avLst/>
          </a:prstGeom>
          <a:solidFill>
            <a:srgbClr val="DAE9F6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B783A-6F1D-C921-6E62-791091E12569}"/>
              </a:ext>
            </a:extLst>
          </p:cNvPr>
          <p:cNvSpPr txBox="1"/>
          <p:nvPr/>
        </p:nvSpPr>
        <p:spPr>
          <a:xfrm>
            <a:off x="881826" y="1557987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/>
              <a:t>L</a:t>
            </a:r>
            <a:r>
              <a:rPr lang="en-US" sz="1800" b="1" dirty="0"/>
              <a:t>imitations</a:t>
            </a:r>
            <a:endParaRPr lang="en-US" sz="11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D35B486-FF24-1B9C-BB16-4B6C8BA836B5}"/>
              </a:ext>
            </a:extLst>
          </p:cNvPr>
          <p:cNvGrpSpPr/>
          <p:nvPr/>
        </p:nvGrpSpPr>
        <p:grpSpPr>
          <a:xfrm>
            <a:off x="749274" y="2011520"/>
            <a:ext cx="376251" cy="381645"/>
            <a:chOff x="1038225" y="2331238"/>
            <a:chExt cx="376251" cy="38164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D132929-503C-4F35-3B0B-2A62F418200A}"/>
                </a:ext>
              </a:extLst>
            </p:cNvPr>
            <p:cNvSpPr/>
            <p:nvPr/>
          </p:nvSpPr>
          <p:spPr>
            <a:xfrm>
              <a:off x="1038225" y="2331238"/>
              <a:ext cx="376251" cy="381645"/>
            </a:xfrm>
            <a:prstGeom prst="ellipse">
              <a:avLst/>
            </a:prstGeom>
            <a:solidFill>
              <a:srgbClr val="FFB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F4BC3C9-6F2D-AAFA-E26F-A357E87A8C8B}"/>
                </a:ext>
              </a:extLst>
            </p:cNvPr>
            <p:cNvGrpSpPr/>
            <p:nvPr/>
          </p:nvGrpSpPr>
          <p:grpSpPr>
            <a:xfrm rot="19003991">
              <a:off x="1126730" y="2430575"/>
              <a:ext cx="199238" cy="182967"/>
              <a:chOff x="220980" y="1836420"/>
              <a:chExt cx="199238" cy="182967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A321996-529E-BE92-6228-BA2FCF7E48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599" y="1836420"/>
                <a:ext cx="0" cy="182967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B9E5427-9E32-D361-9F76-93A5E130A9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80" y="1927904"/>
                <a:ext cx="199238" cy="0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F4608CB-E415-F277-51BC-CE1CD839FC1A}"/>
              </a:ext>
            </a:extLst>
          </p:cNvPr>
          <p:cNvSpPr txBox="1"/>
          <p:nvPr/>
        </p:nvSpPr>
        <p:spPr>
          <a:xfrm>
            <a:off x="1135682" y="2048454"/>
            <a:ext cx="3218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Evaluated only on FD001 and FD003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5A7ED9-6D1C-97AD-4D21-2367B498BEA8}"/>
              </a:ext>
            </a:extLst>
          </p:cNvPr>
          <p:cNvGrpSpPr/>
          <p:nvPr/>
        </p:nvGrpSpPr>
        <p:grpSpPr>
          <a:xfrm>
            <a:off x="749274" y="2634854"/>
            <a:ext cx="376251" cy="381645"/>
            <a:chOff x="1038225" y="2331238"/>
            <a:chExt cx="376251" cy="38164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B08E617-74A4-BD2C-FACB-636315D42896}"/>
                </a:ext>
              </a:extLst>
            </p:cNvPr>
            <p:cNvSpPr/>
            <p:nvPr/>
          </p:nvSpPr>
          <p:spPr>
            <a:xfrm>
              <a:off x="1038225" y="2331238"/>
              <a:ext cx="376251" cy="381645"/>
            </a:xfrm>
            <a:prstGeom prst="ellipse">
              <a:avLst/>
            </a:prstGeom>
            <a:solidFill>
              <a:srgbClr val="FFB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1052361-B939-843D-C3C0-9039E87A6775}"/>
                </a:ext>
              </a:extLst>
            </p:cNvPr>
            <p:cNvGrpSpPr/>
            <p:nvPr/>
          </p:nvGrpSpPr>
          <p:grpSpPr>
            <a:xfrm rot="19003991">
              <a:off x="1126730" y="2430575"/>
              <a:ext cx="199238" cy="182967"/>
              <a:chOff x="220980" y="1836420"/>
              <a:chExt cx="199238" cy="182967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B0E35DD-5936-C93A-DDFD-D6DCDF78D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599" y="1836420"/>
                <a:ext cx="0" cy="182967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BBF2F16-2E18-2131-6385-86FB27856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80" y="1927904"/>
                <a:ext cx="199238" cy="0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3BE363-5440-0018-A38B-EBFF3D07232C}"/>
              </a:ext>
            </a:extLst>
          </p:cNvPr>
          <p:cNvSpPr txBox="1"/>
          <p:nvPr/>
        </p:nvSpPr>
        <p:spPr>
          <a:xfrm>
            <a:off x="1135682" y="2675845"/>
            <a:ext cx="3129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Single operating-condition datasets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177D12-C15E-77CB-AF2B-79B00BED9291}"/>
              </a:ext>
            </a:extLst>
          </p:cNvPr>
          <p:cNvGrpSpPr/>
          <p:nvPr/>
        </p:nvGrpSpPr>
        <p:grpSpPr>
          <a:xfrm>
            <a:off x="749274" y="3258188"/>
            <a:ext cx="376251" cy="381645"/>
            <a:chOff x="1038225" y="2331238"/>
            <a:chExt cx="376251" cy="3816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41F3399-2009-A9E2-66A5-FCC5C5AE4E74}"/>
                </a:ext>
              </a:extLst>
            </p:cNvPr>
            <p:cNvSpPr/>
            <p:nvPr/>
          </p:nvSpPr>
          <p:spPr>
            <a:xfrm>
              <a:off x="1038225" y="2331238"/>
              <a:ext cx="376251" cy="381645"/>
            </a:xfrm>
            <a:prstGeom prst="ellipse">
              <a:avLst/>
            </a:prstGeom>
            <a:solidFill>
              <a:srgbClr val="FFB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031A36-A24F-2731-D910-A1D39FB2F906}"/>
                </a:ext>
              </a:extLst>
            </p:cNvPr>
            <p:cNvGrpSpPr/>
            <p:nvPr/>
          </p:nvGrpSpPr>
          <p:grpSpPr>
            <a:xfrm rot="19003991">
              <a:off x="1126730" y="2430575"/>
              <a:ext cx="199238" cy="182967"/>
              <a:chOff x="220980" y="1836420"/>
              <a:chExt cx="199238" cy="182967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99EC6F7-6BFF-B6F7-0159-88619CECFF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599" y="1836420"/>
                <a:ext cx="0" cy="182967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200F45E-C553-AE9A-2DF0-FBCC03762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80" y="1927904"/>
                <a:ext cx="199238" cy="0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971DC97-C743-D103-58F3-8F5BD4486A8D}"/>
              </a:ext>
            </a:extLst>
          </p:cNvPr>
          <p:cNvSpPr txBox="1"/>
          <p:nvPr/>
        </p:nvSpPr>
        <p:spPr>
          <a:xfrm>
            <a:off x="1135682" y="3303236"/>
            <a:ext cx="321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Validation based on simulated data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B15F37-604E-F66A-F52D-05799037B6A2}"/>
              </a:ext>
            </a:extLst>
          </p:cNvPr>
          <p:cNvGrpSpPr/>
          <p:nvPr/>
        </p:nvGrpSpPr>
        <p:grpSpPr>
          <a:xfrm>
            <a:off x="749274" y="3881522"/>
            <a:ext cx="376251" cy="381645"/>
            <a:chOff x="1038225" y="2331238"/>
            <a:chExt cx="376251" cy="381645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1133D47-2D44-5415-E4E6-51F4889571F8}"/>
                </a:ext>
              </a:extLst>
            </p:cNvPr>
            <p:cNvSpPr/>
            <p:nvPr/>
          </p:nvSpPr>
          <p:spPr>
            <a:xfrm>
              <a:off x="1038225" y="2331238"/>
              <a:ext cx="376251" cy="381645"/>
            </a:xfrm>
            <a:prstGeom prst="ellipse">
              <a:avLst/>
            </a:prstGeom>
            <a:solidFill>
              <a:srgbClr val="FFB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AF769E1-FC61-52D1-6DEE-EEE50627DD0D}"/>
                </a:ext>
              </a:extLst>
            </p:cNvPr>
            <p:cNvGrpSpPr/>
            <p:nvPr/>
          </p:nvGrpSpPr>
          <p:grpSpPr>
            <a:xfrm rot="19003991">
              <a:off x="1126730" y="2430575"/>
              <a:ext cx="199238" cy="182967"/>
              <a:chOff x="220980" y="1836420"/>
              <a:chExt cx="199238" cy="182967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DC17669-5589-7211-78AD-35A693716A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599" y="1836420"/>
                <a:ext cx="0" cy="182967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B738F56-EBDC-23EE-B6C9-916CFA164C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80" y="1927904"/>
                <a:ext cx="199238" cy="0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623DEE4-6F81-3DD5-1ABC-EED7F7AB23DA}"/>
              </a:ext>
            </a:extLst>
          </p:cNvPr>
          <p:cNvSpPr txBox="1"/>
          <p:nvPr/>
        </p:nvSpPr>
        <p:spPr>
          <a:xfrm>
            <a:off x="1135682" y="3930627"/>
            <a:ext cx="323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No hyperparameter optimization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514A8E-B981-B09D-31F5-DC7C2717BDE0}"/>
              </a:ext>
            </a:extLst>
          </p:cNvPr>
          <p:cNvGrpSpPr/>
          <p:nvPr/>
        </p:nvGrpSpPr>
        <p:grpSpPr>
          <a:xfrm>
            <a:off x="5340652" y="2025646"/>
            <a:ext cx="376251" cy="381645"/>
            <a:chOff x="5933755" y="2625413"/>
            <a:chExt cx="376251" cy="381645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F0BD104-FB36-6364-6580-136472CFF82A}"/>
                </a:ext>
              </a:extLst>
            </p:cNvPr>
            <p:cNvSpPr/>
            <p:nvPr/>
          </p:nvSpPr>
          <p:spPr>
            <a:xfrm>
              <a:off x="5933755" y="2625413"/>
              <a:ext cx="376251" cy="38164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FA916A3-7903-D702-46D0-F0601B4BB287}"/>
                </a:ext>
              </a:extLst>
            </p:cNvPr>
            <p:cNvCxnSpPr>
              <a:cxnSpLocks/>
            </p:cNvCxnSpPr>
            <p:nvPr/>
          </p:nvCxnSpPr>
          <p:spPr>
            <a:xfrm rot="19003991" flipV="1">
              <a:off x="6067451" y="2794240"/>
              <a:ext cx="0" cy="10800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F0B2F08-97EC-C510-26E8-B9FB3F2B5993}"/>
                </a:ext>
              </a:extLst>
            </p:cNvPr>
            <p:cNvCxnSpPr>
              <a:cxnSpLocks/>
            </p:cNvCxnSpPr>
            <p:nvPr/>
          </p:nvCxnSpPr>
          <p:spPr>
            <a:xfrm rot="19003991">
              <a:off x="6063855" y="2831475"/>
              <a:ext cx="199238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AFA549A-EF24-7A28-9592-0B3A1397382E}"/>
              </a:ext>
            </a:extLst>
          </p:cNvPr>
          <p:cNvSpPr txBox="1"/>
          <p:nvPr/>
        </p:nvSpPr>
        <p:spPr>
          <a:xfrm>
            <a:off x="5683271" y="1557987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Future Work</a:t>
            </a:r>
            <a:endParaRPr 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97B7B7-467F-3FDB-5471-D515B6F8FFC0}"/>
              </a:ext>
            </a:extLst>
          </p:cNvPr>
          <p:cNvSpPr txBox="1"/>
          <p:nvPr/>
        </p:nvSpPr>
        <p:spPr>
          <a:xfrm>
            <a:off x="5712487" y="2039881"/>
            <a:ext cx="3218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Extend to FD002 and FD004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506EF8-67AA-28F8-8AA2-392CD05F253E}"/>
              </a:ext>
            </a:extLst>
          </p:cNvPr>
          <p:cNvGrpSpPr/>
          <p:nvPr/>
        </p:nvGrpSpPr>
        <p:grpSpPr>
          <a:xfrm>
            <a:off x="5340652" y="2648677"/>
            <a:ext cx="376251" cy="381645"/>
            <a:chOff x="5933755" y="2625413"/>
            <a:chExt cx="376251" cy="381645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4DEEE5A-6556-740A-22C7-55973C818BC1}"/>
                </a:ext>
              </a:extLst>
            </p:cNvPr>
            <p:cNvSpPr/>
            <p:nvPr/>
          </p:nvSpPr>
          <p:spPr>
            <a:xfrm>
              <a:off x="5933755" y="2625413"/>
              <a:ext cx="376251" cy="38164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02AD87A-310D-F80C-88BB-8FC34B0275CD}"/>
                </a:ext>
              </a:extLst>
            </p:cNvPr>
            <p:cNvCxnSpPr>
              <a:cxnSpLocks/>
            </p:cNvCxnSpPr>
            <p:nvPr/>
          </p:nvCxnSpPr>
          <p:spPr>
            <a:xfrm rot="19003991" flipV="1">
              <a:off x="6067451" y="2794240"/>
              <a:ext cx="0" cy="10800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0262DD2-DEB6-3CE6-EAAB-781BD27888C6}"/>
                </a:ext>
              </a:extLst>
            </p:cNvPr>
            <p:cNvCxnSpPr>
              <a:cxnSpLocks/>
            </p:cNvCxnSpPr>
            <p:nvPr/>
          </p:nvCxnSpPr>
          <p:spPr>
            <a:xfrm rot="19003991">
              <a:off x="6063855" y="2831475"/>
              <a:ext cx="199238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C34D281-2BEB-2DCA-978C-90D0DF372E4E}"/>
              </a:ext>
            </a:extLst>
          </p:cNvPr>
          <p:cNvSpPr txBox="1"/>
          <p:nvPr/>
        </p:nvSpPr>
        <p:spPr>
          <a:xfrm>
            <a:off x="5712487" y="2671413"/>
            <a:ext cx="325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Validate with real fleet data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6E18B9-6011-5D76-1147-1CFD4E3EEC78}"/>
              </a:ext>
            </a:extLst>
          </p:cNvPr>
          <p:cNvGrpSpPr/>
          <p:nvPr/>
        </p:nvGrpSpPr>
        <p:grpSpPr>
          <a:xfrm>
            <a:off x="5340652" y="3271708"/>
            <a:ext cx="376251" cy="381645"/>
            <a:chOff x="5933755" y="2625413"/>
            <a:chExt cx="376251" cy="381645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7A5E5A2-5D6C-66F7-1847-37B0AD8857F8}"/>
                </a:ext>
              </a:extLst>
            </p:cNvPr>
            <p:cNvSpPr/>
            <p:nvPr/>
          </p:nvSpPr>
          <p:spPr>
            <a:xfrm>
              <a:off x="5933755" y="2625413"/>
              <a:ext cx="376251" cy="38164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3F2B6DF-7AA1-8D9F-7785-423D1D57AF6C}"/>
                </a:ext>
              </a:extLst>
            </p:cNvPr>
            <p:cNvCxnSpPr>
              <a:cxnSpLocks/>
            </p:cNvCxnSpPr>
            <p:nvPr/>
          </p:nvCxnSpPr>
          <p:spPr>
            <a:xfrm rot="19003991" flipV="1">
              <a:off x="6067451" y="2794240"/>
              <a:ext cx="0" cy="10800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2A55B6-BE21-BC70-8878-A39949E89E3E}"/>
                </a:ext>
              </a:extLst>
            </p:cNvPr>
            <p:cNvCxnSpPr>
              <a:cxnSpLocks/>
            </p:cNvCxnSpPr>
            <p:nvPr/>
          </p:nvCxnSpPr>
          <p:spPr>
            <a:xfrm rot="19003991">
              <a:off x="6063855" y="2831475"/>
              <a:ext cx="199238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7F851E-6DF6-9612-0F64-DD6DB3DD4A9A}"/>
              </a:ext>
            </a:extLst>
          </p:cNvPr>
          <p:cNvSpPr txBox="1"/>
          <p:nvPr/>
        </p:nvSpPr>
        <p:spPr>
          <a:xfrm>
            <a:off x="5712487" y="3302945"/>
            <a:ext cx="325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Adaptive thresholding methods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041413-6A80-802E-AE53-F29BA19A6F5E}"/>
              </a:ext>
            </a:extLst>
          </p:cNvPr>
          <p:cNvGrpSpPr/>
          <p:nvPr/>
        </p:nvGrpSpPr>
        <p:grpSpPr>
          <a:xfrm>
            <a:off x="5340652" y="3894739"/>
            <a:ext cx="376251" cy="381645"/>
            <a:chOff x="5933755" y="2625413"/>
            <a:chExt cx="376251" cy="38164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85A7047-4807-1A4A-6A61-5FA5AC98F394}"/>
                </a:ext>
              </a:extLst>
            </p:cNvPr>
            <p:cNvSpPr/>
            <p:nvPr/>
          </p:nvSpPr>
          <p:spPr>
            <a:xfrm>
              <a:off x="5933755" y="2625413"/>
              <a:ext cx="376251" cy="38164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F887FA-B3A8-911D-99FC-9001491B1AC7}"/>
                </a:ext>
              </a:extLst>
            </p:cNvPr>
            <p:cNvCxnSpPr>
              <a:cxnSpLocks/>
            </p:cNvCxnSpPr>
            <p:nvPr/>
          </p:nvCxnSpPr>
          <p:spPr>
            <a:xfrm rot="19003991" flipV="1">
              <a:off x="6067451" y="2794240"/>
              <a:ext cx="0" cy="10800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12F500C-2063-BFF6-6165-07313C8535D6}"/>
                </a:ext>
              </a:extLst>
            </p:cNvPr>
            <p:cNvCxnSpPr>
              <a:cxnSpLocks/>
            </p:cNvCxnSpPr>
            <p:nvPr/>
          </p:nvCxnSpPr>
          <p:spPr>
            <a:xfrm rot="19003991">
              <a:off x="6063855" y="2831475"/>
              <a:ext cx="199238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E0B52DE-5A75-EB10-95B1-DF342C300413}"/>
              </a:ext>
            </a:extLst>
          </p:cNvPr>
          <p:cNvSpPr txBox="1"/>
          <p:nvPr/>
        </p:nvSpPr>
        <p:spPr>
          <a:xfrm>
            <a:off x="5712487" y="3934477"/>
            <a:ext cx="325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Cost-based maintenance optimization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E4DEF6-9083-C459-4A6E-097F5EBD0EA0}"/>
              </a:ext>
            </a:extLst>
          </p:cNvPr>
          <p:cNvGrpSpPr/>
          <p:nvPr/>
        </p:nvGrpSpPr>
        <p:grpSpPr>
          <a:xfrm>
            <a:off x="749274" y="4504856"/>
            <a:ext cx="376251" cy="381645"/>
            <a:chOff x="1038225" y="2331238"/>
            <a:chExt cx="376251" cy="381645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7C2D15F-F73F-6BBC-E24D-86D16F7E438E}"/>
                </a:ext>
              </a:extLst>
            </p:cNvPr>
            <p:cNvSpPr/>
            <p:nvPr/>
          </p:nvSpPr>
          <p:spPr>
            <a:xfrm>
              <a:off x="1038225" y="2331238"/>
              <a:ext cx="376251" cy="381645"/>
            </a:xfrm>
            <a:prstGeom prst="ellipse">
              <a:avLst/>
            </a:prstGeom>
            <a:solidFill>
              <a:srgbClr val="FFB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5E30467-4174-D96A-FD6B-075ECD219597}"/>
                </a:ext>
              </a:extLst>
            </p:cNvPr>
            <p:cNvGrpSpPr/>
            <p:nvPr/>
          </p:nvGrpSpPr>
          <p:grpSpPr>
            <a:xfrm rot="19003991">
              <a:off x="1126730" y="2430575"/>
              <a:ext cx="199238" cy="182967"/>
              <a:chOff x="220980" y="1836420"/>
              <a:chExt cx="199238" cy="182967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3886765-994C-245E-B5B8-6803B95409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599" y="1836420"/>
                <a:ext cx="0" cy="182967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85ED179-2150-6FD7-9DAD-60627CEDC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80" y="1927904"/>
                <a:ext cx="199238" cy="0"/>
              </a:xfrm>
              <a:prstGeom prst="line">
                <a:avLst/>
              </a:prstGeom>
              <a:ln w="38100">
                <a:solidFill>
                  <a:srgbClr val="BC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543AFC8-EB0A-4AF0-A274-4A412FFCCD04}"/>
              </a:ext>
            </a:extLst>
          </p:cNvPr>
          <p:cNvSpPr txBox="1"/>
          <p:nvPr/>
        </p:nvSpPr>
        <p:spPr>
          <a:xfrm>
            <a:off x="1125522" y="4558020"/>
            <a:ext cx="323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Fixed maintenance thresholds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D6353B-919C-B66B-DD5F-A94A064AC23C}"/>
              </a:ext>
            </a:extLst>
          </p:cNvPr>
          <p:cNvGrpSpPr/>
          <p:nvPr/>
        </p:nvGrpSpPr>
        <p:grpSpPr>
          <a:xfrm>
            <a:off x="5340652" y="4517769"/>
            <a:ext cx="376251" cy="381645"/>
            <a:chOff x="5933755" y="2625413"/>
            <a:chExt cx="376251" cy="38164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06304C0-7534-B9D5-3EB1-3575FA48C407}"/>
                </a:ext>
              </a:extLst>
            </p:cNvPr>
            <p:cNvSpPr/>
            <p:nvPr/>
          </p:nvSpPr>
          <p:spPr>
            <a:xfrm>
              <a:off x="5933755" y="2625413"/>
              <a:ext cx="376251" cy="38164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9A0B58F-017A-7C9A-AD13-FA762627DC8B}"/>
                </a:ext>
              </a:extLst>
            </p:cNvPr>
            <p:cNvCxnSpPr>
              <a:cxnSpLocks/>
            </p:cNvCxnSpPr>
            <p:nvPr/>
          </p:nvCxnSpPr>
          <p:spPr>
            <a:xfrm rot="19003991" flipV="1">
              <a:off x="6067451" y="2794240"/>
              <a:ext cx="0" cy="10800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907F1BA-1DBF-D8E1-7F18-239FF9E76509}"/>
                </a:ext>
              </a:extLst>
            </p:cNvPr>
            <p:cNvCxnSpPr>
              <a:cxnSpLocks/>
            </p:cNvCxnSpPr>
            <p:nvPr/>
          </p:nvCxnSpPr>
          <p:spPr>
            <a:xfrm rot="19003991">
              <a:off x="6063855" y="2831475"/>
              <a:ext cx="199238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DFECD0FF-4C6F-81AC-A064-42303DBBA189}"/>
              </a:ext>
            </a:extLst>
          </p:cNvPr>
          <p:cNvSpPr txBox="1"/>
          <p:nvPr/>
        </p:nvSpPr>
        <p:spPr>
          <a:xfrm>
            <a:off x="5712487" y="4566008"/>
            <a:ext cx="325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Certification-oriented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4004257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4062E7-18A8-4535-BB64-B26D81B2D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03C42-A28F-41DF-B92D-EE906AC3AC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noProof="0" dirty="0"/>
              <a:t>Amanda Schneider Bassani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9215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18287</TotalTime>
  <Words>1183</Words>
  <Application>Microsoft Macintosh PowerPoint</Application>
  <PresentationFormat>Personalizar</PresentationFormat>
  <Paragraphs>261</Paragraphs>
  <Slides>39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 Math</vt:lpstr>
      <vt:lpstr>Helvetica Neue Medium</vt:lpstr>
      <vt:lpstr>Noto Sans Symbols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Thiago Rodrigues de Oliveira</dc:creator>
  <cp:lastModifiedBy>João Paulo Gomes de Oliveira | CRDC</cp:lastModifiedBy>
  <cp:revision>55</cp:revision>
  <dcterms:modified xsi:type="dcterms:W3CDTF">2026-10-07T13:14:42Z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d0459ad-4eb7-43ee-b2e0-a4f39d08f16c_Enabled">
    <vt:lpwstr>true</vt:lpwstr>
  </property>
  <property fmtid="{D5CDD505-2E9C-101B-9397-08002B2CF9AE}" pid="3" name="MSIP_Label_ad0459ad-4eb7-43ee-b2e0-a4f39d08f16c_SetDate">
    <vt:lpwstr>2026-09-29T18:17:50Z</vt:lpwstr>
  </property>
  <property fmtid="{D5CDD505-2E9C-101B-9397-08002B2CF9AE}" pid="4" name="MSIP_Label_ad0459ad-4eb7-43ee-b2e0-a4f39d08f16c_Method">
    <vt:lpwstr>Privileged</vt:lpwstr>
  </property>
  <property fmtid="{D5CDD505-2E9C-101B-9397-08002B2CF9AE}" pid="5" name="MSIP_Label_ad0459ad-4eb7-43ee-b2e0-a4f39d08f16c_Name">
    <vt:lpwstr>Private</vt:lpwstr>
  </property>
  <property fmtid="{D5CDD505-2E9C-101B-9397-08002B2CF9AE}" pid="6" name="MSIP_Label_ad0459ad-4eb7-43ee-b2e0-a4f39d08f16c_SiteId">
    <vt:lpwstr>1b5ba8a2-315d-45ce-959a-42b748c01de7</vt:lpwstr>
  </property>
  <property fmtid="{D5CDD505-2E9C-101B-9397-08002B2CF9AE}" pid="7" name="MSIP_Label_ad0459ad-4eb7-43ee-b2e0-a4f39d08f16c_ActionId">
    <vt:lpwstr>269d4f18-9f5d-4356-9974-acf16a729f5a</vt:lpwstr>
  </property>
  <property fmtid="{D5CDD505-2E9C-101B-9397-08002B2CF9AE}" pid="8" name="MSIP_Label_ad0459ad-4eb7-43ee-b2e0-a4f39d08f16c_ContentBits">
    <vt:lpwstr>0</vt:lpwstr>
  </property>
  <property fmtid="{D5CDD505-2E9C-101B-9397-08002B2CF9AE}" pid="9" name="MSIP_Label_ad0459ad-4eb7-43ee-b2e0-a4f39d08f16c_Tag">
    <vt:lpwstr>10, 0, 1, 1</vt:lpwstr>
  </property>
  <property fmtid="{D5CDD505-2E9C-101B-9397-08002B2CF9AE}" pid="10" name="MSIP_Label_1289a21a-6cfc-4acf-a602-e3367794cecd_Enabled">
    <vt:lpwstr>true</vt:lpwstr>
  </property>
  <property fmtid="{D5CDD505-2E9C-101B-9397-08002B2CF9AE}" pid="11" name="MSIP_Label_1289a21a-6cfc-4acf-a602-e3367794cecd_SetDate">
    <vt:lpwstr>2026-10-07T13:14:42Z</vt:lpwstr>
  </property>
  <property fmtid="{D5CDD505-2E9C-101B-9397-08002B2CF9AE}" pid="12" name="MSIP_Label_1289a21a-6cfc-4acf-a602-e3367794cecd_Method">
    <vt:lpwstr>Standard</vt:lpwstr>
  </property>
  <property fmtid="{D5CDD505-2E9C-101B-9397-08002B2CF9AE}" pid="13" name="MSIP_Label_1289a21a-6cfc-4acf-a602-e3367794cecd_Name">
    <vt:lpwstr>Interna</vt:lpwstr>
  </property>
  <property fmtid="{D5CDD505-2E9C-101B-9397-08002B2CF9AE}" pid="14" name="MSIP_Label_1289a21a-6cfc-4acf-a602-e3367794cecd_SiteId">
    <vt:lpwstr>d2f9dc93-f9b6-49c2-a65b-3537004ff31a</vt:lpwstr>
  </property>
  <property fmtid="{D5CDD505-2E9C-101B-9397-08002B2CF9AE}" pid="15" name="MSIP_Label_1289a21a-6cfc-4acf-a602-e3367794cecd_ActionId">
    <vt:lpwstr>28241f69-8ad2-4d88-a9da-db5640e9fe28</vt:lpwstr>
  </property>
  <property fmtid="{D5CDD505-2E9C-101B-9397-08002B2CF9AE}" pid="16" name="MSIP_Label_1289a21a-6cfc-4acf-a602-e3367794cecd_ContentBits">
    <vt:lpwstr>0</vt:lpwstr>
  </property>
  <property fmtid="{D5CDD505-2E9C-101B-9397-08002B2CF9AE}" pid="17" name="MSIP_Label_1289a21a-6cfc-4acf-a602-e3367794cecd_Tag">
    <vt:lpwstr>50, 3, 0, 1</vt:lpwstr>
  </property>
</Properties>
</file>